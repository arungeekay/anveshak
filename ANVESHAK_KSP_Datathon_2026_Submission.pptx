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0B1F3A"/>
                </a:solidFill>
                <a:latin typeface="Calibri"/>
              </a:rPr>
              <a:t>Team Details</a:t>
            </a:r>
            <a:endParaRPr b="1" sz="1500"/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2B374B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374B"/>
                </a:solidFill>
                <a:latin typeface="Calibri"/>
              </a:rPr>
              <a:t>Team name:  Team Zen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374B"/>
                </a:solidFill>
                <a:latin typeface="Calibri"/>
              </a:rPr>
              <a:t>Team leader name:  Hiran Vikraman S 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2B374B"/>
                </a:solidFill>
                <a:latin typeface="Calibri"/>
              </a:rPr>
              <a:t>Team size:  2   (Hiran Vikraman S R · Arun G K)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B374B"/>
                </a:solidFill>
                <a:latin typeface="Calibri"/>
              </a:rPr>
              <a:t>Problem Statement:  Challenge 1. Intelligent Conversational AI for the KSP Crime Database. Enable officers to query the FIR/crime database in natural language (English and Kannada) and get accurate, evidence-grounded answers.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ANVESHAK (ಅನ್ವೇಷಕ</a:t>
            </a:r>
            <a:r>
              <a:rPr sz="1300" b="0">
                <a:solidFill>
                  <a:srgbClr val="2B374B"/>
                </a:solidFill>
                <a:latin typeface="Calibri"/>
              </a:rPr>
              <a:t> = "the investigator") turns the KSP crime database into an </a:t>
            </a:r>
            <a:r>
              <a:rPr sz="1300" b="1">
                <a:solidFill>
                  <a:srgbClr val="0B1F3A"/>
                </a:solidFill>
                <a:latin typeface="Calibri"/>
              </a:rPr>
              <a:t>AI investigation partner</a:t>
            </a:r>
            <a:r>
              <a:rPr sz="1300" b="0">
                <a:solidFill>
                  <a:srgbClr val="2B374B"/>
                </a:solidFill>
                <a:latin typeface="Calibri"/>
              </a:rPr>
              <a:t>, not just a chatbot.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Ask in Kannada or English, by voice or text, and get an answer in seconds </a:t>
            </a:r>
            <a:r>
              <a:rPr sz="1200" b="1">
                <a:solidFill>
                  <a:srgbClr val="0B1F3A"/>
                </a:solidFill>
                <a:latin typeface="Calibri"/>
              </a:rPr>
              <a:t>with the evidence attached</a:t>
            </a:r>
            <a:r>
              <a:rPr sz="1200" b="0">
                <a:solidFill>
                  <a:srgbClr val="2B374B"/>
                </a:solidFill>
                <a:latin typeface="Calibri"/>
              </a:rPr>
              <a:t>: the SQL, the rows, the case IDs. No SQL skills, no analyst queue.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Deterministic tools compute; the model only narrates.</a:t>
            </a:r>
            <a:r>
              <a:rPr sz="1200" b="0">
                <a:solidFill>
                  <a:srgbClr val="2B374B"/>
                </a:solidFill>
                <a:latin typeface="Calibri"/>
              </a:rPr>
              <a:t> Every number traces to a tool result, so there are no invented statistics. That is what makes it usable in policing.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It does not stop at answers, it works cases: links serial crime across district boundaries, files new FIRs and links them live, runs a six-agent cell that assembles court-ready packs, and sweeps overnight to raise leads before anyone asks.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Impact: minutes instead of days, catches that siloed records miss, and a ranked lead list every morning. </a:t>
            </a:r>
            <a:r>
              <a:rPr sz="1200" b="1">
                <a:solidFill>
                  <a:srgbClr val="047855"/>
                </a:solidFill>
                <a:latin typeface="Calibri"/>
              </a:rPr>
              <a:t>Runs 100% on Zoho Catalyst.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How it is different, and how it solves the problem: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Most "crime chatbots" stop at natural language to SQL. ANVESHAK adds an investigation layer: cross-district serial linkage, live FIR intake, multi-agent case work and proactive patrol.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Trust by construction: </a:t>
            </a:r>
            <a:r>
              <a:rPr sz="1200" b="0">
                <a:solidFill>
                  <a:srgbClr val="2B374B"/>
                </a:solidFill>
                <a:latin typeface="Calibri"/>
              </a:rPr>
              <a:t>the model never invents numbers, the linkage ground truth is public, role scope is enforced in the query, and the audit log is tamper-evident. There is a red-team console in the product so anyone can test it.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Cross-district reach: </a:t>
            </a:r>
            <a:r>
              <a:rPr sz="1200" b="0">
                <a:solidFill>
                  <a:srgbClr val="2B374B"/>
                </a:solidFill>
                <a:latin typeface="Calibri"/>
              </a:rPr>
              <a:t>MO fingerprinting via multilingual embeddings finds serial offenders that siloed district records miss.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• Built for real officers: </a:t>
            </a:r>
            <a:r>
              <a:rPr sz="1200" b="0">
                <a:solidFill>
                  <a:srgbClr val="2B374B"/>
                </a:solidFill>
                <a:latin typeface="Calibri"/>
              </a:rPr>
              <a:t>bilingual Kannada and English, voice or text, government-grade UI.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Where it makes a difference: </a:t>
            </a:r>
            <a:r>
              <a:rPr sz="1100" b="0">
                <a:solidFill>
                  <a:srgbClr val="2B374B"/>
                </a:solidFill>
                <a:latin typeface="Calibri"/>
              </a:rPr>
              <a:t>a constable at a rural station gets a statewide answer in Kannada in seconds; an SP spots a ring crossing Mandya into Bengaluru before the next strike; an IO gets a first-draft court-ready pack in minutes; a control room sees tomorrow's hotspot tonight.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USP:  </a:t>
            </a:r>
            <a:r>
              <a:rPr sz="1150" b="0">
                <a:solidFill>
                  <a:srgbClr val="0B1F3A"/>
                </a:solidFill>
                <a:latin typeface="Calibri"/>
              </a:rPr>
              <a:t>"Ask a question, get a verified answer with evidence, and let the AI work the case end to end to a court-ready pack."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1. Conversational floor</a:t>
            </a:r>
            <a:r>
              <a:rPr sz="1050" b="0">
                <a:solidFill>
                  <a:srgbClr val="2B374B"/>
                </a:solidFill>
                <a:latin typeface="Calibri"/>
              </a:rPr>
              <a:t>: bilingual English and Kannada, voice or text, verified natural-language-to-SQL with an evidence drawer on every answer.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2. Serial Crime Linkage Engine</a:t>
            </a:r>
            <a:r>
              <a:rPr sz="1050" b="0">
                <a:solidFill>
                  <a:srgbClr val="2B374B"/>
                </a:solidFill>
                <a:latin typeface="Calibri"/>
              </a:rPr>
              <a:t>: MO fingerprinting (multilingual embeddings plus structured features), weighted cosine, HDBSCAN, 180-day / 120-km filter. Discovers cross-district series cold.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3. Live FIR intake</a:t>
            </a:r>
            <a:r>
              <a:rPr sz="1050" b="0">
                <a:solidFill>
                  <a:srgbClr val="2B374B"/>
                </a:solidFill>
                <a:latin typeface="Calibri"/>
              </a:rPr>
              <a:t>: file a new FIR in plain words, typed or dictated in Kannada. It is embedded at runtime and joins a matching series immediately.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4. AI Investigation Cell</a:t>
            </a:r>
            <a:r>
              <a:rPr sz="1050" b="0">
                <a:solidFill>
                  <a:srgbClr val="2B374B"/>
                </a:solidFill>
                <a:latin typeface="Calibri"/>
              </a:rPr>
              <a:t>: six agents stream their reasoning and assemble a court-ready Investigation Pack, rendered to PDF by SmartBrowz.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5. CrimeGraph and Person 360</a:t>
            </a:r>
            <a:r>
              <a:rPr sz="1050" b="0">
                <a:solidFill>
                  <a:srgbClr val="2B374B"/>
                </a:solidFill>
                <a:latin typeface="Calibri"/>
              </a:rPr>
              <a:t>: a knowledge graph over people and cases, plus one page holding a person's whole footprint, risk breakdown and associates.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6. Night Patrol and patrol plans</a:t>
            </a:r>
            <a:r>
              <a:rPr sz="1050" b="0">
                <a:solidFill>
                  <a:srgbClr val="2B374B"/>
                </a:solidFill>
                <a:latin typeface="Calibri"/>
              </a:rPr>
              <a:t>: spike, series-growth and repeat-offender detectors produce ranked lead cards, then a deployment plan per district.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7. Trust Center</a:t>
            </a:r>
            <a:r>
              <a:rPr sz="1050" b="0">
                <a:solidFill>
                  <a:srgbClr val="2B374B"/>
                </a:solidFill>
                <a:latin typeface="Calibri"/>
              </a:rPr>
              <a:t>: live metrics, a red-team console anyone can attack, and a hash-chained audit log that proves history has not been rewritten.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8. Governance</a:t>
            </a:r>
            <a:r>
              <a:rPr sz="1050" b="0">
                <a:solidFill>
                  <a:srgbClr val="2B374B"/>
                </a:solidFill>
                <a:latin typeface="Calibri"/>
              </a:rPr>
              <a:t>: role scope enforced server-side (SHO, SP, SCRB, analyst with masked names), and no protected attributes in any model (ADR-9).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Officer (English or Kannada, voice or text) to React SPA to a FastAPI intent router: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• Question path: </a:t>
            </a:r>
            <a:r>
              <a:rPr sz="1200" b="0">
                <a:solidFill>
                  <a:srgbClr val="2B374B"/>
                </a:solidFill>
                <a:latin typeface="Calibri"/>
              </a:rPr>
              <a:t>schema card and few-shots, then guardrails (SELECT-only, allowlisted tables, no file IO), the ADR-9 policy screen, role-scope injection, and self-repair. Answer plus evidence drawer.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• Tool path: </a:t>
            </a:r>
            <a:r>
              <a:rPr sz="1200" b="0">
                <a:solidFill>
                  <a:srgbClr val="2B374B"/>
                </a:solidFill>
                <a:latin typeface="Calibri"/>
              </a:rPr>
              <a:t>linkage, graph, forecast, hotspots, risk and similarity tools compute on DuckDB; the model narrates the verified result.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• New FIR: </a:t>
            </a:r>
            <a:r>
              <a:rPr sz="1200" b="0">
                <a:solidFill>
                  <a:srgbClr val="2B374B"/>
                </a:solidFill>
                <a:latin typeface="Calibri"/>
              </a:rPr>
              <a:t>the narrative is embedded at runtime by ONNX, written to Data Store and the mirror, linkage re-runs, and the officer is told which series it joined.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• Investigation: </a:t>
            </a:r>
            <a:r>
              <a:rPr sz="1200" b="0">
                <a:solidFill>
                  <a:srgbClr val="2B374B"/>
                </a:solidFill>
                <a:latin typeface="Calibri"/>
              </a:rPr>
              <a:t>"Investigate SH-07" starts the six-agent pipeline over SSE, ending in the Investigation Pack and its PDF.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• Autonomous: </a:t>
            </a:r>
            <a:r>
              <a:rPr sz="1200" b="0">
                <a:solidFill>
                  <a:srgbClr val="2B374B"/>
                </a:solidFill>
                <a:latin typeface="Calibri"/>
              </a:rPr>
              <a:t>Cron runs Night Patrol, which produces lead cards, a patrol plan and a spoken Kannada morning briefing.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Two data layers (ADR-1): </a:t>
            </a:r>
            <a:r>
              <a:rPr sz="1100" b="0">
                <a:solidFill>
                  <a:srgbClr val="2B374B"/>
                </a:solidFill>
                <a:latin typeface="Calibri"/>
              </a:rPr>
              <a:t>Catalyst Data Store is the system of record; an embedded DuckDB mirror serves sub-second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  <p:sp>
        <p:nvSpPr>
          <p:cNvPr id="85" name="TextBox 84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Nine views in the live prototype (government-grade dark theme):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Chat</a:t>
            </a:r>
            <a:r>
              <a:rPr sz="1100" b="0">
                <a:solidFill>
                  <a:srgbClr val="2B374B"/>
                </a:solidFill>
                <a:latin typeface="Calibri"/>
              </a:rPr>
              <a:t>: bilingual answer, evidence drawer, voice input, scope badge.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Lead Feed</a:t>
            </a:r>
            <a:r>
              <a:rPr sz="1100" b="0">
                <a:solidFill>
                  <a:srgbClr val="2B374B"/>
                </a:solidFill>
                <a:latin typeface="Calibri"/>
              </a:rPr>
              <a:t>: ranked Night-Patrol cards, patrol plan, spoken briefing.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Series</a:t>
            </a:r>
            <a:r>
              <a:rPr sz="1100" b="0">
                <a:solidFill>
                  <a:srgbClr val="2B374B"/>
                </a:solidFill>
                <a:latin typeface="Calibri"/>
              </a:rPr>
              <a:t>: discovered series with codename, link explanations, replay and the counterfactual banner.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New FIR</a:t>
            </a:r>
            <a:r>
              <a:rPr sz="1100" b="0">
                <a:solidFill>
                  <a:srgbClr val="2B374B"/>
                </a:solidFill>
                <a:latin typeface="Calibri"/>
              </a:rPr>
              <a:t>: file a case in plain words and watch it join a series.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Investigation Room</a:t>
            </a:r>
            <a:r>
              <a:rPr sz="1100" b="0">
                <a:solidFill>
                  <a:srgbClr val="2B374B"/>
                </a:solidFill>
                <a:latin typeface="Calibri"/>
              </a:rPr>
              <a:t>: six agents streaming, then the assembled pack.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Person 360</a:t>
            </a:r>
            <a:r>
              <a:rPr sz="1100" b="0">
                <a:solidFill>
                  <a:srgbClr val="2B374B"/>
                </a:solidFill>
                <a:latin typeface="Calibri"/>
              </a:rPr>
              <a:t>: one person's history, risk breakdown, network, associates.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CrimeGraph</a:t>
            </a:r>
            <a:r>
              <a:rPr sz="1100" b="0">
                <a:solidFill>
                  <a:srgbClr val="2B374B"/>
                </a:solidFill>
                <a:latin typeface="Calibri"/>
              </a:rPr>
              <a:t>: interactive people and case network.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Trust Center</a:t>
            </a:r>
            <a:r>
              <a:rPr sz="1100" b="0">
                <a:solidFill>
                  <a:srgbClr val="2B374B"/>
                </a:solidFill>
                <a:latin typeface="Calibri"/>
              </a:rPr>
              <a:t>: metrics, red-team console, audit-chain verification.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• Audit</a:t>
            </a:r>
            <a:r>
              <a:rPr sz="1100" b="0">
                <a:solidFill>
                  <a:srgbClr val="2B374B"/>
                </a:solidFill>
                <a:latin typeface="Calibri"/>
              </a:rPr>
              <a:t>: every action logged with its role.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4ED8"/>
                </a:solidFill>
                <a:latin typeface="Calibri"/>
              </a:rPr>
              <a:t>Live: https://anveshak-api-50044329134.development.catalystappsail.in/ui/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Officer (English / Kannada, voice and text)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React SPA, served by the backend at /ui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FastAPI on Catalyst AppSail, then the intent router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guardrails, ADR-9 policy, role scope, self-repair, and typed tools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(linkage, graph, forecast, hotspots, risk, similarity)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DuckDB analytical mirror, with Catalyst Data Store as system of record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ONNX MiniLM embeds new text at runtime, with no external model calls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LLM adapter to Catalyst QuickML, serving GLM-4.7-Flash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Six-agent Investigation Cell over SSE, then SmartBrowz for the pack PDF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B374B"/>
                </a:solidFill>
                <a:latin typeface="Calibri"/>
              </a:rPr>
              <a:t>Cron drives Night Patrol, producing lead cards and the morning briefing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Deterministic tools compute, the model narrates (ADR-2). </a:t>
            </a:r>
            <a:r>
              <a:rPr sz="1050" b="0">
                <a:solidFill>
                  <a:srgbClr val="2B374B"/>
                </a:solidFill>
                <a:latin typeface="Calibri"/>
              </a:rPr>
              <a:t>No external inference API is ever called from the deployed app (ADR-4).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Backend:  </a:t>
            </a:r>
            <a:r>
              <a:rPr sz="1150" b="0">
                <a:solidFill>
                  <a:srgbClr val="2B374B"/>
                </a:solidFill>
                <a:latin typeface="Calibri"/>
              </a:rPr>
              <a:t>Python 3.12, FastAPI, DuckDB, sqlglot, ONNX Runtime with paraphrase-multilingual-MiniLM-L12-v2, scikit-learn and HDBSCAN, NetworkX with Louvain, statsmodels SARIMA, sse-starlette.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Frontend:  </a:t>
            </a:r>
            <a:r>
              <a:rPr sz="1150" b="0">
                <a:solidFill>
                  <a:srgbClr val="2B374B"/>
                </a:solidFill>
                <a:latin typeface="Calibri"/>
              </a:rPr>
              <a:t>React 18, Vite, Tailwind CSS, ECharts for charts and the network graph, Leaflet with OpenStreetMap, Web Speech API for kn-IN voice.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LLM:  </a:t>
            </a:r>
            <a:r>
              <a:rPr sz="1150" b="0">
                <a:solidFill>
                  <a:srgbClr val="2B374B"/>
                </a:solidFill>
                <a:latin typeface="Calibri"/>
              </a:rPr>
              <a:t>GLM-4.7-Flash served through Catalyst QuickML LLM Serving.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Packaging:  </a:t>
            </a:r>
            <a:r>
              <a:rPr sz="1150" b="0">
                <a:solidFill>
                  <a:srgbClr val="2B374B"/>
                </a:solidFill>
                <a:latin typeface="Calibri"/>
              </a:rPr>
              <a:t>Docker custom AppSail runtime, with the scientific stack, the embedding model and the SPA bundled in the image.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B1F3A"/>
                </a:solidFill>
                <a:latin typeface="Calibri"/>
              </a:rPr>
              <a:t>Quality:  </a:t>
            </a:r>
            <a:r>
              <a:rPr sz="1150" b="0">
                <a:solidFill>
                  <a:srgbClr val="2B374B"/>
                </a:solidFill>
                <a:latin typeface="Calibri"/>
              </a:rPr>
              <a:t>86 tests, a 60-question bilingual eval harness, public linkage ground truth, and a post-deploy verification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047855"/>
                </a:solidFill>
                <a:latin typeface="Calibri"/>
              </a:rPr>
              <a:t>Live now:  </a:t>
            </a:r>
            <a:r>
              <a:rPr sz="1150" b="0">
                <a:solidFill>
                  <a:srgbClr val="2B374B"/>
                </a:solidFill>
                <a:latin typeface="Calibri"/>
              </a:rPr>
              <a:t>AppSail (FastAPI, custom Docker runtime), QuickML LLM Serving (GLM-4.7-Flash), Web Client Hosting, Authentication, API Gateway, SmartBrowz for the Investigation Pack PDF.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Integrated, with an honest status:  </a:t>
            </a:r>
            <a:r>
              <a:rPr sz="1150" b="0">
                <a:solidFill>
                  <a:srgbClr val="2B374B"/>
                </a:solidFill>
                <a:latin typeface="Calibri"/>
              </a:rPr>
              <a:t>Data Store as the system of record. The app reports its live connection state rather than assuming it, and FIR intake writes there as well as to the analytical mirror.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In the architecture:  </a:t>
            </a:r>
            <a:r>
              <a:rPr sz="1150" b="0">
                <a:solidFill>
                  <a:srgbClr val="2B374B"/>
                </a:solidFill>
                <a:latin typeface="Calibri"/>
              </a:rPr>
              <a:t>NoSQL for graph snapshots, Cron for Night Patrol, Signals and Mail for lead digests, Cache, and Stratus for pack storage.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Calibri"/>
              </a:rPr>
              <a:t>Deployment is exclusively on Zoho Catalyst, per the competition mandate.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The prototype runs within the Catalyst development tier.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AppSail: 1 GB memory, single instance, custom Docker runtime.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QuickML: GLM-4.7-Flash is a Zoho-hosted shared model, so there is no per-model deployment cost; it is billed per token at production scale.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Web Client Hosting, Data Store and Cron are serverless and usage-based.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B374B"/>
                </a:solidFill>
                <a:latin typeface="Calibri"/>
              </a:rPr>
              <a:t>• Corpus embeddings are precomputed, and runtime embedding uses ONNX on CPU, so no GPU is required at any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pic>
        <p:nvPicPr>
          <p:cNvPr id="115" name="Picture 114" descr="01_leadf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53312"/>
            <a:ext cx="2724912" cy="1532763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320040" y="2895219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Night Patrol: proactive leads</a:t>
            </a:r>
          </a:p>
        </p:txBody>
      </p:sp>
      <p:pic>
        <p:nvPicPr>
          <p:cNvPr id="117" name="Picture 116" descr="02_chat_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1353312"/>
            <a:ext cx="2724912" cy="1532763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3209544" y="2895219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Chat: answer plus its SQL evidence</a:t>
            </a:r>
          </a:p>
        </p:txBody>
      </p:sp>
      <p:pic>
        <p:nvPicPr>
          <p:cNvPr id="119" name="Picture 118" descr="07_int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1353312"/>
            <a:ext cx="2724912" cy="1532763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6099048" y="2895219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New FIR joins a live series</a:t>
            </a:r>
          </a:p>
        </p:txBody>
      </p:sp>
      <p:pic>
        <p:nvPicPr>
          <p:cNvPr id="121" name="Picture 120" descr="04_p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270123"/>
            <a:ext cx="2724912" cy="1532763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320040" y="4812030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Investigation Pack: six agents</a:t>
            </a:r>
          </a:p>
        </p:txBody>
      </p:sp>
      <p:pic>
        <p:nvPicPr>
          <p:cNvPr id="123" name="Picture 122" descr="08_tru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544" y="3270123"/>
            <a:ext cx="2724912" cy="1532763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3209544" y="4812030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Trust Center: red-team console</a:t>
            </a:r>
          </a:p>
        </p:txBody>
      </p:sp>
      <p:pic>
        <p:nvPicPr>
          <p:cNvPr id="125" name="Picture 124" descr="09_per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48" y="3270123"/>
            <a:ext cx="2724912" cy="1532763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099048" y="4812030"/>
            <a:ext cx="27249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B374B"/>
                </a:solidFill>
                <a:latin typeface="Calibri"/>
              </a:rPr>
              <a:t>Person 360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Dataset:  </a:t>
            </a:r>
            <a:r>
              <a:rPr sz="1050" b="0">
                <a:solidFill>
                  <a:srgbClr val="2B374B"/>
                </a:solidFill>
                <a:latin typeface="Calibri"/>
              </a:rPr>
              <a:t>15,405 FIRs, 31 districts, 248 stations, 2023 to 2026 (synthetic, seed 42).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Natural language to SQL:  </a:t>
            </a:r>
            <a:r>
              <a:rPr sz="1050" b="0">
                <a:solidFill>
                  <a:srgbClr val="2B374B"/>
                </a:solidFill>
                <a:latin typeface="Calibri"/>
              </a:rPr>
              <a:t>76.7% overall (English 82.2%, Kannada 60.0%) measured on the local 7B development model; gold-versus-gold 100%. A live harness re-measures against the deployed GLM.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Serial linkage (SH-07):  </a:t>
            </a:r>
            <a:r>
              <a:rPr sz="1050" b="0">
                <a:solidFill>
                  <a:srgbClr val="2B374B"/>
                </a:solidFill>
                <a:latin typeface="Calibri"/>
              </a:rPr>
              <a:t>precision 0.86, recall 12 of 14; the disjoint SP-2 series is correctly not merged.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Counterfactual:  </a:t>
            </a:r>
            <a:r>
              <a:rPr sz="1050" b="0">
                <a:solidFill>
                  <a:srgbClr val="2B374B"/>
                </a:solidFill>
                <a:latin typeface="Calibri"/>
              </a:rPr>
              <a:t>the series becomes detectable at case 6; nine further offences across three districts followed over 142 days.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Investigation Cell:  </a:t>
            </a:r>
            <a:r>
              <a:rPr sz="1050" b="0">
                <a:solidFill>
                  <a:srgbClr val="2B374B"/>
                </a:solidFill>
                <a:latin typeface="Calibri"/>
              </a:rPr>
              <a:t>six agents complete in about 10 seconds, producing 8 ranked suspects.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Forecast (burglary):  </a:t>
            </a:r>
            <a:r>
              <a:rPr sz="1050" b="0">
                <a:solidFill>
                  <a:srgbClr val="2B374B"/>
                </a:solidFill>
                <a:latin typeface="Calibri"/>
              </a:rPr>
              <a:t>backtest MAE 1.83 against a seasonal-naive 1.75, which is competitive and honestly reported.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Guardrails:  </a:t>
            </a:r>
            <a:r>
              <a:rPr sz="1050" b="0">
                <a:solidFill>
                  <a:srgbClr val="2B374B"/>
                </a:solidFill>
                <a:latin typeface="Calibri"/>
              </a:rPr>
              <a:t>10 of 10 attack vectors blocked, re-tested live on every Trust Center load.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Calibri"/>
              </a:rPr>
              <a:t>Robustness:  </a:t>
            </a:r>
            <a:r>
              <a:rPr sz="1050" b="0">
                <a:solidFill>
                  <a:srgbClr val="2B374B"/>
                </a:solidFill>
                <a:latin typeface="Calibri"/>
              </a:rPr>
              <a:t>thread-safe analytical layer: 60 concurrent requests, zero errors; caches pre-warmed at startup.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Linkage ground truth is public (data_engine/planted/*.yaml), so these numbers are independently verifiable.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GitHub (public):  </a:t>
            </a:r>
            <a:r>
              <a:rPr sz="1300" b="0">
                <a:solidFill>
                  <a:srgbClr val="1D4ED8"/>
                </a:solidFill>
                <a:latin typeface="Calibri"/>
              </a:rPr>
              <a:t>https://github.com/arungeekay/anveshak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Deployed link (Catalyst):  </a:t>
            </a:r>
            <a:r>
              <a:rPr sz="1300" b="0">
                <a:solidFill>
                  <a:srgbClr val="1D4ED8"/>
                </a:solidFill>
                <a:latin typeface="Calibri"/>
              </a:rPr>
              <a:t>https://anveshak-api-50044329134.development.catalystappsail.in/ui/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Demo video (3 min):  </a:t>
            </a:r>
            <a:r>
              <a:rPr sz="1300" b="0">
                <a:solidFill>
                  <a:srgbClr val="64748B"/>
                </a:solidFill>
                <a:latin typeface="Calibri"/>
              </a:rPr>
              <a:t>(add your public YouTube or Drive link)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API base: https://anveshak-api-50044329134.development.catalystappsail.in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502920" y="1417320"/>
            <a:ext cx="818387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Roadmap to production: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CCTNS integration: a live read connection plus identity resolution on name, parentage and date of birth, replacing the synthetic person key.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Catalyst Auth issuing real officer identities into the scope layer that already enforces them server-side.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Kannada tuning with hand-curated examples from real officer phrasing, which is our clearest measured gap.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Human-in-the-loop learning: every analyst Confirm or Reject on a series becomes a label that improves precision.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Photo intake: scan a paper FIR with a vision model, so the workflow starts where policing actually starts.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B374B"/>
                </a:solidFill>
                <a:latin typeface="Calibri"/>
              </a:rPr>
              <a:t>• A pilot with one district's live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