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279e9db54d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279e9db54d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279e9db54d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279e9db54d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79e9db54d7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79e9db54d7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279e9db54d7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279e9db54d7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279e9db54d7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279e9db54d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79e9db54d7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279e9db54d7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279e9db54d7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279e9db54d7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e3fd15ea4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e3fd15ea4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279e9db54d7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279e9db54d7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79e9db54d7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279e9db54d7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279e9db54d7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279e9db54d7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279e9db54d7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279e9db54d7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279e9db54d7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279e9db54d7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279e9db54d7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279e9db54d7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279e9db54d7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279e9db54d7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460650" y="3183225"/>
            <a:ext cx="8222700" cy="178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sz="1700" b="1">
                <a:solidFill>
                  <a:srgbClr val="0B1F3A"/>
                </a:solidFill>
                <a:latin typeface="Calibri"/>
              </a:rPr>
              <a:t>Team Details</a:t>
            </a:r>
            <a:endParaRPr b="1" sz="1500"/>
          </a:p>
          <a:p>
            <a:pPr>
              <a:spcAft>
                <a:spcPts val="400"/>
              </a:spcAft>
            </a:pPr>
            <a:r>
              <a:rPr sz="600" b="0">
                <a:solidFill>
                  <a:srgbClr val="2B374B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374B"/>
                </a:solidFill>
                <a:latin typeface="Calibri"/>
              </a:rPr>
              <a:t>Team name:  Team Zen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374B"/>
                </a:solidFill>
                <a:latin typeface="Calibri"/>
              </a:rPr>
              <a:t>Team leader name:  Hiran Vikraman S R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374B"/>
                </a:solidFill>
                <a:latin typeface="Calibri"/>
              </a:rPr>
              <a:t>Team size:  2   (Hiran Vikraman S R · Arun G K)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B374B"/>
                </a:solidFill>
                <a:latin typeface="Calibri"/>
              </a:rPr>
              <a:t>Problem Statement:  Challenge 1. Intelligent Conversational AI for the KSP Crime Database. Enable officers to query the FIR/crime database in natural language (English and Kannada) and get accurate, evidence-grounded answers.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14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/>
        </p:nvSpPr>
        <p:spPr>
          <a:xfrm>
            <a:off x="318650" y="6979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/>
              <a:t>Brief about the solution</a:t>
            </a:r>
            <a:endParaRPr b="1" sz="1600"/>
          </a:p>
        </p:txBody>
      </p:sp>
      <p:sp>
        <p:nvSpPr>
          <p:cNvPr id="61" name="TextBox 60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ANVESHAK (ಅನ್ವೇಷಕ</a:t>
            </a:r>
            <a:r>
              <a:rPr sz="1300" b="0">
                <a:solidFill>
                  <a:srgbClr val="2B374B"/>
                </a:solidFill>
                <a:latin typeface="Calibri"/>
              </a:rPr>
              <a:t> = "the investigator") turns the KSP crime database into an </a:t>
            </a:r>
            <a:r>
              <a:rPr sz="1300" b="1">
                <a:solidFill>
                  <a:srgbClr val="0B1F3A"/>
                </a:solidFill>
                <a:latin typeface="Calibri"/>
              </a:rPr>
              <a:t>AI investigation partner</a:t>
            </a:r>
            <a:r>
              <a:rPr sz="1300" b="0">
                <a:solidFill>
                  <a:srgbClr val="2B374B"/>
                </a:solidFill>
                <a:latin typeface="Calibri"/>
              </a:rPr>
              <a:t>, not just a chatbot.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B374B"/>
                </a:solidFill>
                <a:latin typeface="Calibri"/>
              </a:rPr>
              <a:t>• Ask in Kannada or English, by voice or text, and get an answer in seconds </a:t>
            </a:r>
            <a:r>
              <a:rPr sz="1200" b="1">
                <a:solidFill>
                  <a:srgbClr val="0B1F3A"/>
                </a:solidFill>
                <a:latin typeface="Calibri"/>
              </a:rPr>
              <a:t>with the evidence attached</a:t>
            </a:r>
            <a:r>
              <a:rPr sz="1200" b="0">
                <a:solidFill>
                  <a:srgbClr val="2B374B"/>
                </a:solidFill>
                <a:latin typeface="Calibri"/>
              </a:rPr>
              <a:t>: the SQL, the rows, the case IDs. No SQL skills, no analyst queue.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• Deterministic tools compute; the model only narrates.</a:t>
            </a:r>
            <a:r>
              <a:rPr sz="1200" b="0">
                <a:solidFill>
                  <a:srgbClr val="2B374B"/>
                </a:solidFill>
                <a:latin typeface="Calibri"/>
              </a:rPr>
              <a:t> Every number traces to a tool result, so there are no invented statistics. That is what makes it usable in policing.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B374B"/>
                </a:solidFill>
                <a:latin typeface="Calibri"/>
              </a:rPr>
              <a:t>• It does not stop at answers, it works cases: links serial crime across district boundaries, files new FIRs and links them live, runs a six-agent cell that assembles court-ready packs, and sweeps overnight to raise leads before anyone asks.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• Impact: minutes instead of days, catches that siloed records miss, and a ranked lead list every morning. </a:t>
            </a:r>
            <a:r>
              <a:rPr sz="1200" b="1">
                <a:solidFill>
                  <a:srgbClr val="047855"/>
                </a:solidFill>
                <a:latin typeface="Calibri"/>
              </a:rPr>
              <a:t>Runs 100% on Zoho Catalyst.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5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5"/>
          <p:cNvSpPr txBox="1"/>
          <p:nvPr/>
        </p:nvSpPr>
        <p:spPr>
          <a:xfrm>
            <a:off x="240800" y="710650"/>
            <a:ext cx="8784300" cy="14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>
                <a:solidFill>
                  <a:srgbClr val="000000"/>
                </a:solidFill>
              </a:rPr>
              <a:t>Opportunities</a:t>
            </a:r>
            <a:endParaRPr b="1" sz="1600">
              <a:solidFill>
                <a:srgbClr val="000000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How it is different, and how it solves the problem: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B374B"/>
                </a:solidFill>
                <a:latin typeface="Calibri"/>
              </a:rPr>
              <a:t>• Most "crime chatbots" stop at natural language to SQL. ANVESHAK adds an investigation layer: cross-district serial linkage, live FIR intake, multi-agent case work and proactive patrol.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• Trust by construction: </a:t>
            </a:r>
            <a:r>
              <a:rPr sz="1200" b="0">
                <a:solidFill>
                  <a:srgbClr val="2B374B"/>
                </a:solidFill>
                <a:latin typeface="Calibri"/>
              </a:rPr>
              <a:t>the model never invents numbers, the linkage ground truth is public, role scope is enforced in the query, and the audit log is tamper-evident. There is a red-team console in the product so anyone can test it.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• Cross-district reach: </a:t>
            </a:r>
            <a:r>
              <a:rPr sz="1200" b="0">
                <a:solidFill>
                  <a:srgbClr val="2B374B"/>
                </a:solidFill>
                <a:latin typeface="Calibri"/>
              </a:rPr>
              <a:t>MO fingerprinting via multilingual embeddings finds serial offenders that siloed district records miss.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• Built for real officers: </a:t>
            </a:r>
            <a:r>
              <a:rPr sz="1200" b="0">
                <a:solidFill>
                  <a:srgbClr val="2B374B"/>
                </a:solidFill>
                <a:latin typeface="Calibri"/>
              </a:rPr>
              <a:t>bilingual Kannada and English, voice or text, government-grade UI.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Where it makes a difference: </a:t>
            </a:r>
            <a:r>
              <a:rPr sz="1100" b="0">
                <a:solidFill>
                  <a:srgbClr val="2B374B"/>
                </a:solidFill>
                <a:latin typeface="Calibri"/>
              </a:rPr>
              <a:t>a constable at a rural station gets a statewide answer in Kannada in seconds; an SP spots a ring crossing Mandya into Bengaluru before the next strike; an IO gets a first-draft court-ready pack in minutes; a control room sees tomorrow's hotspot tonight.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1D4ED8"/>
                </a:solidFill>
                <a:latin typeface="Calibri"/>
              </a:rPr>
              <a:t>USP:  </a:t>
            </a:r>
            <a:r>
              <a:rPr sz="1150" b="0">
                <a:solidFill>
                  <a:srgbClr val="0B1F3A"/>
                </a:solidFill>
                <a:latin typeface="Calibri"/>
              </a:rPr>
              <a:t>"Ask a question, get a verified answer with evidence, and let the AI work the case end to end to a court-ready pack."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6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6"/>
          <p:cNvSpPr txBox="1"/>
          <p:nvPr/>
        </p:nvSpPr>
        <p:spPr>
          <a:xfrm>
            <a:off x="195475" y="855225"/>
            <a:ext cx="86988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List of features offered by the solution</a:t>
            </a:r>
            <a:endParaRPr b="1" sz="1800"/>
          </a:p>
        </p:txBody>
      </p:sp>
      <p:sp>
        <p:nvSpPr>
          <p:cNvPr id="73" name="TextBox 72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1. Conversational floor</a:t>
            </a:r>
            <a:r>
              <a:rPr sz="1050" b="0">
                <a:solidFill>
                  <a:srgbClr val="2B374B"/>
                </a:solidFill>
                <a:latin typeface="Calibri"/>
              </a:rPr>
              <a:t>: bilingual English and Kannada, voice or text, verified natural-language-to-SQL with an evidence drawer on every answer.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2. Serial Crime Linkage Engine</a:t>
            </a:r>
            <a:r>
              <a:rPr sz="1050" b="0">
                <a:solidFill>
                  <a:srgbClr val="2B374B"/>
                </a:solidFill>
                <a:latin typeface="Calibri"/>
              </a:rPr>
              <a:t>: MO fingerprinting (multilingual embeddings plus structured features), weighted cosine, HDBSCAN, 180-day / 120-km filter. Discovers cross-district series cold.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3. Live FIR intake</a:t>
            </a:r>
            <a:r>
              <a:rPr sz="1050" b="0">
                <a:solidFill>
                  <a:srgbClr val="2B374B"/>
                </a:solidFill>
                <a:latin typeface="Calibri"/>
              </a:rPr>
              <a:t>: file a new FIR in plain words, typed or dictated in Kannada. It is embedded at runtime and joins a matching series immediately.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4. AI Investigation Cell</a:t>
            </a:r>
            <a:r>
              <a:rPr sz="1050" b="0">
                <a:solidFill>
                  <a:srgbClr val="2B374B"/>
                </a:solidFill>
                <a:latin typeface="Calibri"/>
              </a:rPr>
              <a:t>: six agents stream their reasoning and assemble a court-ready Investigation Pack, rendered to PDF by SmartBrowz.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5. CrimeGraph and Person 360</a:t>
            </a:r>
            <a:r>
              <a:rPr sz="1050" b="0">
                <a:solidFill>
                  <a:srgbClr val="2B374B"/>
                </a:solidFill>
                <a:latin typeface="Calibri"/>
              </a:rPr>
              <a:t>: a knowledge graph over people and cases, plus one page holding a person's whole footprint, risk breakdown and associates.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6. Night Patrol and patrol plans</a:t>
            </a:r>
            <a:r>
              <a:rPr sz="1050" b="0">
                <a:solidFill>
                  <a:srgbClr val="2B374B"/>
                </a:solidFill>
                <a:latin typeface="Calibri"/>
              </a:rPr>
              <a:t>: spike, series-growth and repeat-offender detectors produce ranked lead cards, then a deployment plan per district.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7. Trust Center</a:t>
            </a:r>
            <a:r>
              <a:rPr sz="1050" b="0">
                <a:solidFill>
                  <a:srgbClr val="2B374B"/>
                </a:solidFill>
                <a:latin typeface="Calibri"/>
              </a:rPr>
              <a:t>: live metrics, a red-team console anyone can attack, and a hash-chained audit log that proves history has not been rewritten.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8. Governance</a:t>
            </a:r>
            <a:r>
              <a:rPr sz="1050" b="0">
                <a:solidFill>
                  <a:srgbClr val="2B374B"/>
                </a:solidFill>
                <a:latin typeface="Calibri"/>
              </a:rPr>
              <a:t>: role scope enforced server-side (SHO, SP, SCRB, analyst with masked names), and no protected attributes in any model (ADR-9).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7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7"/>
          <p:cNvSpPr txBox="1"/>
          <p:nvPr/>
        </p:nvSpPr>
        <p:spPr>
          <a:xfrm>
            <a:off x="195475" y="830775"/>
            <a:ext cx="8772000" cy="51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Process flow diagram or Use-case diagram</a:t>
            </a:r>
            <a:endParaRPr b="1" sz="1800"/>
          </a:p>
        </p:txBody>
      </p:sp>
      <p:sp>
        <p:nvSpPr>
          <p:cNvPr id="79" name="TextBox 78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Officer (English or Kannada, voice or text) to React SPA to a FastAPI intent router: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D4ED8"/>
                </a:solidFill>
                <a:latin typeface="Calibri"/>
              </a:rPr>
              <a:t>• Question path: </a:t>
            </a:r>
            <a:r>
              <a:rPr sz="1200" b="0">
                <a:solidFill>
                  <a:srgbClr val="2B374B"/>
                </a:solidFill>
                <a:latin typeface="Calibri"/>
              </a:rPr>
              <a:t>schema card and few-shots, then guardrails (SELECT-only, allowlisted tables, no file IO), the ADR-9 policy screen, role-scope injection, and self-repair. Answer plus evidence drawer.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D4ED8"/>
                </a:solidFill>
                <a:latin typeface="Calibri"/>
              </a:rPr>
              <a:t>• Tool path: </a:t>
            </a:r>
            <a:r>
              <a:rPr sz="1200" b="0">
                <a:solidFill>
                  <a:srgbClr val="2B374B"/>
                </a:solidFill>
                <a:latin typeface="Calibri"/>
              </a:rPr>
              <a:t>linkage, graph, forecast, hotspots, risk and similarity tools compute on DuckDB; the model narrates the verified result.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D4ED8"/>
                </a:solidFill>
                <a:latin typeface="Calibri"/>
              </a:rPr>
              <a:t>• New FIR: </a:t>
            </a:r>
            <a:r>
              <a:rPr sz="1200" b="0">
                <a:solidFill>
                  <a:srgbClr val="2B374B"/>
                </a:solidFill>
                <a:latin typeface="Calibri"/>
              </a:rPr>
              <a:t>the narrative is embedded at runtime by ONNX, written to Data Store and the mirror, linkage re-runs, and the officer is told which series it joined.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D4ED8"/>
                </a:solidFill>
                <a:latin typeface="Calibri"/>
              </a:rPr>
              <a:t>• Investigation: </a:t>
            </a:r>
            <a:r>
              <a:rPr sz="1200" b="0">
                <a:solidFill>
                  <a:srgbClr val="2B374B"/>
                </a:solidFill>
                <a:latin typeface="Calibri"/>
              </a:rPr>
              <a:t>"Investigate SH-07" starts the six-agent pipeline over SSE, ending in the Investigation Pack and its PDF.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D4ED8"/>
                </a:solidFill>
                <a:latin typeface="Calibri"/>
              </a:rPr>
              <a:t>• Autonomous: </a:t>
            </a:r>
            <a:r>
              <a:rPr sz="1200" b="0">
                <a:solidFill>
                  <a:srgbClr val="2B374B"/>
                </a:solidFill>
                <a:latin typeface="Calibri"/>
              </a:rPr>
              <a:t>Cron runs Night Patrol, which produces lead cards, a patrol plan and a spoken Kannada morning briefing.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Two data layers (ADR-1): </a:t>
            </a:r>
            <a:r>
              <a:rPr sz="1100" b="0">
                <a:solidFill>
                  <a:srgbClr val="2B374B"/>
                </a:solidFill>
                <a:latin typeface="Calibri"/>
              </a:rPr>
              <a:t>Catalyst Data Store is the system of record; an embedded DuckDB mirror serves sub-second analytics.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8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8"/>
          <p:cNvSpPr txBox="1"/>
          <p:nvPr/>
        </p:nvSpPr>
        <p:spPr>
          <a:xfrm>
            <a:off x="207700" y="879650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Wireframes/Mock diagrams of the proposed solution (optional)</a:t>
            </a:r>
            <a:endParaRPr b="1" sz="1800"/>
          </a:p>
        </p:txBody>
      </p:sp>
      <p:sp>
        <p:nvSpPr>
          <p:cNvPr id="85" name="TextBox 84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Nine views in the live prototype (government-grade dark theme):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• Chat</a:t>
            </a:r>
            <a:r>
              <a:rPr sz="1100" b="0">
                <a:solidFill>
                  <a:srgbClr val="2B374B"/>
                </a:solidFill>
                <a:latin typeface="Calibri"/>
              </a:rPr>
              <a:t>: bilingual answer, evidence drawer, voice input, scope badge.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• Lead Feed</a:t>
            </a:r>
            <a:r>
              <a:rPr sz="1100" b="0">
                <a:solidFill>
                  <a:srgbClr val="2B374B"/>
                </a:solidFill>
                <a:latin typeface="Calibri"/>
              </a:rPr>
              <a:t>: ranked Night-Patrol cards, patrol plan, spoken briefing.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• Series</a:t>
            </a:r>
            <a:r>
              <a:rPr sz="1100" b="0">
                <a:solidFill>
                  <a:srgbClr val="2B374B"/>
                </a:solidFill>
                <a:latin typeface="Calibri"/>
              </a:rPr>
              <a:t>: discovered series with codename, link explanations, replay and the counterfactual banner.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• New FIR</a:t>
            </a:r>
            <a:r>
              <a:rPr sz="1100" b="0">
                <a:solidFill>
                  <a:srgbClr val="2B374B"/>
                </a:solidFill>
                <a:latin typeface="Calibri"/>
              </a:rPr>
              <a:t>: file a case in plain words and watch it join a series.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• Investigation Room</a:t>
            </a:r>
            <a:r>
              <a:rPr sz="1100" b="0">
                <a:solidFill>
                  <a:srgbClr val="2B374B"/>
                </a:solidFill>
                <a:latin typeface="Calibri"/>
              </a:rPr>
              <a:t>: six agents streaming, then the assembled pack.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• Person 360</a:t>
            </a:r>
            <a:r>
              <a:rPr sz="1100" b="0">
                <a:solidFill>
                  <a:srgbClr val="2B374B"/>
                </a:solidFill>
                <a:latin typeface="Calibri"/>
              </a:rPr>
              <a:t>: one person's history, risk breakdown, network, associates.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• CrimeGraph</a:t>
            </a:r>
            <a:r>
              <a:rPr sz="1100" b="0">
                <a:solidFill>
                  <a:srgbClr val="2B374B"/>
                </a:solidFill>
                <a:latin typeface="Calibri"/>
              </a:rPr>
              <a:t>: interactive people and case network.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• Trust Center</a:t>
            </a:r>
            <a:r>
              <a:rPr sz="1100" b="0">
                <a:solidFill>
                  <a:srgbClr val="2B374B"/>
                </a:solidFill>
                <a:latin typeface="Calibri"/>
              </a:rPr>
              <a:t>: metrics, red-team console, audit-chain verification.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• Audit</a:t>
            </a:r>
            <a:r>
              <a:rPr sz="1100" b="0">
                <a:solidFill>
                  <a:srgbClr val="2B374B"/>
                </a:solidFill>
                <a:latin typeface="Calibri"/>
              </a:rPr>
              <a:t>: every action logged with its role.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D4ED8"/>
                </a:solidFill>
                <a:latin typeface="Calibri"/>
              </a:rPr>
              <a:t>Live: https://anveshak-api-50044329134.development.catalystappsail.in/ui/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9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9"/>
          <p:cNvSpPr txBox="1"/>
          <p:nvPr/>
        </p:nvSpPr>
        <p:spPr>
          <a:xfrm>
            <a:off x="171050" y="867425"/>
            <a:ext cx="88209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Architecture diagram of the proposed solution</a:t>
            </a:r>
            <a:endParaRPr b="1" sz="1800"/>
          </a:p>
        </p:txBody>
      </p:sp>
      <p:sp>
        <p:nvSpPr>
          <p:cNvPr id="91" name="TextBox 90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50" b="0">
                <a:solidFill>
                  <a:srgbClr val="2B374B"/>
                </a:solidFill>
                <a:latin typeface="Calibri"/>
              </a:rPr>
              <a:t>Officer (English / Kannada, voice and text)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B374B"/>
                </a:solidFill>
                <a:latin typeface="Calibri"/>
              </a:rPr>
              <a:t>React SPA, served by the backend at /ui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B374B"/>
                </a:solidFill>
                <a:latin typeface="Calibri"/>
              </a:rPr>
              <a:t>FastAPI on Catalyst AppSail, then the intent router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64748B"/>
                </a:solidFill>
                <a:latin typeface="Calibri"/>
              </a:rPr>
              <a:t>guardrails, ADR-9 policy, role scope, self-repair, and typed tools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64748B"/>
                </a:solidFill>
                <a:latin typeface="Calibri"/>
              </a:rPr>
              <a:t>(linkage, graph, forecast, hotspots, risk, similarity)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B374B"/>
                </a:solidFill>
                <a:latin typeface="Calibri"/>
              </a:rPr>
              <a:t>DuckDB analytical mirror, with Catalyst Data Store as system of record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B374B"/>
                </a:solidFill>
                <a:latin typeface="Calibri"/>
              </a:rPr>
              <a:t>ONNX MiniLM embeds new text at runtime, with no external model calls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B374B"/>
                </a:solidFill>
                <a:latin typeface="Calibri"/>
              </a:rPr>
              <a:t>LLM adapter to Catalyst QuickML, serving GLM-4.7-Flash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B374B"/>
                </a:solidFill>
                <a:latin typeface="Calibri"/>
              </a:rPr>
              <a:t>Six-agent Investigation Cell over SSE, then SmartBrowz for the pack PDF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B374B"/>
                </a:solidFill>
                <a:latin typeface="Calibri"/>
              </a:rPr>
              <a:t>Cron drives Night Patrol, producing lead cards and the morning briefing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Deterministic tools compute, the model narrates (ADR-2). </a:t>
            </a:r>
            <a:r>
              <a:rPr sz="1050" b="0">
                <a:solidFill>
                  <a:srgbClr val="2B374B"/>
                </a:solidFill>
                <a:latin typeface="Calibri"/>
              </a:rPr>
              <a:t>No external inference API is ever called from the deployed app (ADR-4).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20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20"/>
          <p:cNvSpPr txBox="1"/>
          <p:nvPr/>
        </p:nvSpPr>
        <p:spPr>
          <a:xfrm>
            <a:off x="158825" y="855225"/>
            <a:ext cx="8784300" cy="45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Technologies to be used in the solution</a:t>
            </a:r>
            <a:endParaRPr b="1" sz="1800"/>
          </a:p>
        </p:txBody>
      </p:sp>
      <p:sp>
        <p:nvSpPr>
          <p:cNvPr id="97" name="TextBox 96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1">
                <a:solidFill>
                  <a:srgbClr val="0B1F3A"/>
                </a:solidFill>
                <a:latin typeface="Calibri"/>
              </a:rPr>
              <a:t>Backend:  </a:t>
            </a:r>
            <a:r>
              <a:rPr sz="1150" b="0">
                <a:solidFill>
                  <a:srgbClr val="2B374B"/>
                </a:solidFill>
                <a:latin typeface="Calibri"/>
              </a:rPr>
              <a:t>Python 3.12, FastAPI, DuckDB, sqlglot, ONNX Runtime with paraphrase-multilingual-MiniLM-L12-v2, scikit-learn and HDBSCAN, NetworkX with Louvain, statsmodels SARIMA, sse-starlette.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B1F3A"/>
                </a:solidFill>
                <a:latin typeface="Calibri"/>
              </a:rPr>
              <a:t>Frontend:  </a:t>
            </a:r>
            <a:r>
              <a:rPr sz="1150" b="0">
                <a:solidFill>
                  <a:srgbClr val="2B374B"/>
                </a:solidFill>
                <a:latin typeface="Calibri"/>
              </a:rPr>
              <a:t>React 18, Vite, Tailwind CSS, ECharts for charts and the network graph, Leaflet with OpenStreetMap, Web Speech API for kn-IN voice.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B1F3A"/>
                </a:solidFill>
                <a:latin typeface="Calibri"/>
              </a:rPr>
              <a:t>LLM:  </a:t>
            </a:r>
            <a:r>
              <a:rPr sz="1150" b="0">
                <a:solidFill>
                  <a:srgbClr val="2B374B"/>
                </a:solidFill>
                <a:latin typeface="Calibri"/>
              </a:rPr>
              <a:t>GLM-4.7-Flash served through Catalyst QuickML LLM Serving.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B1F3A"/>
                </a:solidFill>
                <a:latin typeface="Calibri"/>
              </a:rPr>
              <a:t>Packaging:  </a:t>
            </a:r>
            <a:r>
              <a:rPr sz="1150" b="0">
                <a:solidFill>
                  <a:srgbClr val="2B374B"/>
                </a:solidFill>
                <a:latin typeface="Calibri"/>
              </a:rPr>
              <a:t>Docker custom AppSail runtime, with the scientific stack, the embedding model and the SPA bundled in the image.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B1F3A"/>
                </a:solidFill>
                <a:latin typeface="Calibri"/>
              </a:rPr>
              <a:t>Quality:  </a:t>
            </a:r>
            <a:r>
              <a:rPr sz="1150" b="0">
                <a:solidFill>
                  <a:srgbClr val="2B374B"/>
                </a:solidFill>
                <a:latin typeface="Calibri"/>
              </a:rPr>
              <a:t>86 tests, a 60-question bilingual eval harness, public linkage ground truth, and a post-deploy verification gate.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21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21"/>
          <p:cNvSpPr txBox="1"/>
          <p:nvPr/>
        </p:nvSpPr>
        <p:spPr>
          <a:xfrm>
            <a:off x="158825" y="855225"/>
            <a:ext cx="8784300" cy="45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List down Catalyst Services being used in the solution</a:t>
            </a:r>
            <a:endParaRPr b="1" sz="1800"/>
          </a:p>
        </p:txBody>
      </p:sp>
      <p:sp>
        <p:nvSpPr>
          <p:cNvPr id="103" name="TextBox 102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150" b="1">
                <a:solidFill>
                  <a:srgbClr val="0B1F3A"/>
                </a:solidFill>
                <a:latin typeface="Calibri"/>
              </a:rPr>
              <a:t>Every part of ANVESHAK runs on Catalyst. The app reports its own platform status, so this is inspectable rather than asserted: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47855"/>
                </a:solidFill>
                <a:latin typeface="Calibri"/>
              </a:rPr>
              <a:t>LIVE       </a:t>
            </a:r>
            <a:r>
              <a:rPr sz="1000" b="1">
                <a:solidFill>
                  <a:srgbClr val="0B1F3A"/>
                </a:solidFill>
                <a:latin typeface="Calibri"/>
              </a:rPr>
              <a:t>AppSail: </a:t>
            </a:r>
            <a:r>
              <a:rPr sz="1000" b="0">
                <a:solidFill>
                  <a:srgbClr val="2B374B"/>
                </a:solidFill>
                <a:latin typeface="Calibri"/>
              </a:rPr>
              <a:t>runs the FastAPI backend and serves the React app, on a custom Docker runtime carrying the scientific stack and the embedding model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47855"/>
                </a:solidFill>
                <a:latin typeface="Calibri"/>
              </a:rPr>
              <a:t>LIVE       </a:t>
            </a:r>
            <a:r>
              <a:rPr sz="1000" b="1">
                <a:solidFill>
                  <a:srgbClr val="0B1F3A"/>
                </a:solidFill>
                <a:latin typeface="Calibri"/>
              </a:rPr>
              <a:t>QuickML (LLM Serving): </a:t>
            </a:r>
            <a:r>
              <a:rPr sz="1000" b="0">
                <a:solidFill>
                  <a:srgbClr val="2B374B"/>
                </a:solidFill>
                <a:latin typeface="Calibri"/>
              </a:rPr>
              <a:t>serves GLM-4.7-Flash for question understanding and narration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47855"/>
                </a:solidFill>
                <a:latin typeface="Calibri"/>
              </a:rPr>
              <a:t>LIVE       </a:t>
            </a:r>
            <a:r>
              <a:rPr sz="1000" b="1">
                <a:solidFill>
                  <a:srgbClr val="0B1F3A"/>
                </a:solidFill>
                <a:latin typeface="Calibri"/>
              </a:rPr>
              <a:t>API Gateway: </a:t>
            </a:r>
            <a:r>
              <a:rPr sz="1000" b="0">
                <a:solidFill>
                  <a:srgbClr val="2B374B"/>
                </a:solidFill>
                <a:latin typeface="Calibri"/>
              </a:rPr>
              <a:t>fronts the deployment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1D4ED8"/>
                </a:solidFill>
                <a:latin typeface="Calibri"/>
              </a:rPr>
              <a:t>INTEGRATED </a:t>
            </a:r>
            <a:r>
              <a:rPr sz="1000" b="1">
                <a:solidFill>
                  <a:srgbClr val="0B1F3A"/>
                </a:solidFill>
                <a:latin typeface="Calibri"/>
              </a:rPr>
              <a:t>Data Store: </a:t>
            </a:r>
            <a:r>
              <a:rPr sz="1000" b="0">
                <a:solidFill>
                  <a:srgbClr val="2B374B"/>
                </a:solidFill>
                <a:latin typeface="Calibri"/>
              </a:rPr>
              <a:t>system of record for cases and new FIR intake; the analytical mirror is rebuilt from it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1D4ED8"/>
                </a:solidFill>
                <a:latin typeface="Calibri"/>
              </a:rPr>
              <a:t>INTEGRATED </a:t>
            </a:r>
            <a:r>
              <a:rPr sz="1000" b="1">
                <a:solidFill>
                  <a:srgbClr val="0B1F3A"/>
                </a:solidFill>
                <a:latin typeface="Calibri"/>
              </a:rPr>
              <a:t>SmartBrowz: </a:t>
            </a:r>
            <a:r>
              <a:rPr sz="1000" b="0">
                <a:solidFill>
                  <a:srgbClr val="2B374B"/>
                </a:solidFill>
                <a:latin typeface="Calibri"/>
              </a:rPr>
              <a:t>renders the court-ready Investigation Pack to PDF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64748B"/>
                </a:solidFill>
                <a:latin typeface="Calibri"/>
              </a:rPr>
              <a:t>CONFIGURED </a:t>
            </a:r>
            <a:r>
              <a:rPr sz="1000" b="1">
                <a:solidFill>
                  <a:srgbClr val="0B1F3A"/>
                </a:solidFill>
                <a:latin typeface="Calibri"/>
              </a:rPr>
              <a:t>Web Client Hosting: </a:t>
            </a:r>
            <a:r>
              <a:rPr sz="1000" b="0">
                <a:solidFill>
                  <a:srgbClr val="2B374B"/>
                </a:solidFill>
                <a:latin typeface="Calibri"/>
              </a:rPr>
              <a:t>hosts the built React bundle as a client component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64748B"/>
                </a:solidFill>
                <a:latin typeface="Calibri"/>
              </a:rPr>
              <a:t>CONFIGURED </a:t>
            </a:r>
            <a:r>
              <a:rPr sz="1000" b="1">
                <a:solidFill>
                  <a:srgbClr val="0B1F3A"/>
                </a:solidFill>
                <a:latin typeface="Calibri"/>
              </a:rPr>
              <a:t>Authentication: </a:t>
            </a:r>
            <a:r>
              <a:rPr sz="1000" b="0">
                <a:solidFill>
                  <a:srgbClr val="2B374B"/>
                </a:solidFill>
                <a:latin typeface="Calibri"/>
              </a:rPr>
              <a:t>officer identity, feeding the role scopes the app already enforces server-side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64748B"/>
                </a:solidFill>
                <a:latin typeface="Calibri"/>
              </a:rPr>
              <a:t>CONFIGURED </a:t>
            </a:r>
            <a:r>
              <a:rPr sz="1000" b="1">
                <a:solidFill>
                  <a:srgbClr val="0B1F3A"/>
                </a:solidFill>
                <a:latin typeface="Calibri"/>
              </a:rPr>
              <a:t>Cron: </a:t>
            </a:r>
            <a:r>
              <a:rPr sz="1000" b="0">
                <a:solidFill>
                  <a:srgbClr val="2B374B"/>
                </a:solidFill>
                <a:latin typeface="Calibri"/>
              </a:rPr>
              <a:t>the overnight Night Patrol sweep, and cache warming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64748B"/>
                </a:solidFill>
                <a:latin typeface="Calibri"/>
              </a:rPr>
              <a:t>CONFIGURED </a:t>
            </a:r>
            <a:r>
              <a:rPr sz="1000" b="1">
                <a:solidFill>
                  <a:srgbClr val="0B1F3A"/>
                </a:solidFill>
                <a:latin typeface="Calibri"/>
              </a:rPr>
              <a:t>NoSQL · Signals · Mail · Cache · Stratus: </a:t>
            </a:r>
            <a:r>
              <a:rPr sz="1000" b="0">
                <a:solidFill>
                  <a:srgbClr val="2B374B"/>
                </a:solidFill>
                <a:latin typeface="Calibri"/>
              </a:rPr>
              <a:t>graph snapshots, lead digests to district officers, shared state, and pack storage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No external inference API is ever called from the deployed app. </a:t>
            </a:r>
            <a:r>
              <a:rPr sz="1050" b="0">
                <a:solidFill>
                  <a:srgbClr val="2B374B"/>
                </a:solidFill>
                <a:latin typeface="Calibri"/>
              </a:rPr>
              <a:t>Open the Trust Center in the live app to see this table generated from the running process.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22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2"/>
          <p:cNvSpPr txBox="1"/>
          <p:nvPr/>
        </p:nvSpPr>
        <p:spPr>
          <a:xfrm>
            <a:off x="158825" y="818550"/>
            <a:ext cx="88452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Estimated implementation cost (optional)</a:t>
            </a:r>
            <a:endParaRPr b="1" sz="1800"/>
          </a:p>
        </p:txBody>
      </p:sp>
      <p:sp>
        <p:nvSpPr>
          <p:cNvPr id="109" name="TextBox 108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The prototype runs within the Catalyst development tier.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B374B"/>
                </a:solidFill>
                <a:latin typeface="Calibri"/>
              </a:rPr>
              <a:t>• AppSail: 1 GB memory, single instance, custom Docker runtime.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B374B"/>
                </a:solidFill>
                <a:latin typeface="Calibri"/>
              </a:rPr>
              <a:t>• QuickML: GLM-4.7-Flash is a Zoho-hosted shared model, so there is no per-model deployment cost; it is billed per token at production scale.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B374B"/>
                </a:solidFill>
                <a:latin typeface="Calibri"/>
              </a:rPr>
              <a:t>• Web Client Hosting, Data Store and Cron are serverless and usage-based.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B374B"/>
                </a:solidFill>
                <a:latin typeface="Calibri"/>
              </a:rPr>
              <a:t>• Corpus embeddings are precomputed, and runtime embedding uses ONNX on CPU, so no GPU is required at any point.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23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23"/>
          <p:cNvSpPr txBox="1"/>
          <p:nvPr/>
        </p:nvSpPr>
        <p:spPr>
          <a:xfrm>
            <a:off x="219900" y="855225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Snapshots of the prototype</a:t>
            </a:r>
            <a:endParaRPr b="1" sz="1800"/>
          </a:p>
        </p:txBody>
      </p:sp>
      <p:pic>
        <p:nvPicPr>
          <p:cNvPr id="115" name="Picture 114" descr="01_leadfe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353312"/>
            <a:ext cx="2724912" cy="1532763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320040" y="2895219"/>
            <a:ext cx="272491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>
                <a:solidFill>
                  <a:srgbClr val="2B374B"/>
                </a:solidFill>
                <a:latin typeface="Calibri"/>
              </a:rPr>
              <a:t>Night Patrol: proactive leads</a:t>
            </a:r>
          </a:p>
        </p:txBody>
      </p:sp>
      <p:pic>
        <p:nvPicPr>
          <p:cNvPr id="117" name="Picture 116" descr="02_chat_evide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9544" y="1353312"/>
            <a:ext cx="2724912" cy="1532763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3209544" y="2895219"/>
            <a:ext cx="272491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>
                <a:solidFill>
                  <a:srgbClr val="2B374B"/>
                </a:solidFill>
                <a:latin typeface="Calibri"/>
              </a:rPr>
              <a:t>Chat: answer plus its SQL evidence</a:t>
            </a:r>
          </a:p>
        </p:txBody>
      </p:sp>
      <p:pic>
        <p:nvPicPr>
          <p:cNvPr id="119" name="Picture 118" descr="07_intak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9048" y="1353312"/>
            <a:ext cx="2724912" cy="1532763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6099048" y="2895219"/>
            <a:ext cx="272491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>
                <a:solidFill>
                  <a:srgbClr val="2B374B"/>
                </a:solidFill>
                <a:latin typeface="Calibri"/>
              </a:rPr>
              <a:t>New FIR joins a live series</a:t>
            </a:r>
          </a:p>
        </p:txBody>
      </p:sp>
      <p:pic>
        <p:nvPicPr>
          <p:cNvPr id="121" name="Picture 120" descr="04_pa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040" y="3270123"/>
            <a:ext cx="2724912" cy="1532763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320040" y="4812030"/>
            <a:ext cx="272491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>
                <a:solidFill>
                  <a:srgbClr val="2B374B"/>
                </a:solidFill>
                <a:latin typeface="Calibri"/>
              </a:rPr>
              <a:t>Investigation Pack: six agents</a:t>
            </a:r>
          </a:p>
        </p:txBody>
      </p:sp>
      <p:pic>
        <p:nvPicPr>
          <p:cNvPr id="123" name="Picture 122" descr="08_trus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9544" y="3270123"/>
            <a:ext cx="2724912" cy="1532763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3209544" y="4812030"/>
            <a:ext cx="272491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>
                <a:solidFill>
                  <a:srgbClr val="2B374B"/>
                </a:solidFill>
                <a:latin typeface="Calibri"/>
              </a:rPr>
              <a:t>Trust Center: red-team console</a:t>
            </a:r>
          </a:p>
        </p:txBody>
      </p:sp>
      <p:pic>
        <p:nvPicPr>
          <p:cNvPr id="125" name="Picture 124" descr="09_pers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9048" y="3270123"/>
            <a:ext cx="2724912" cy="1532763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6099048" y="4812030"/>
            <a:ext cx="272491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>
                <a:solidFill>
                  <a:srgbClr val="2B374B"/>
                </a:solidFill>
                <a:latin typeface="Calibri"/>
              </a:rPr>
              <a:t>Person 360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24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4"/>
          <p:cNvSpPr txBox="1"/>
          <p:nvPr/>
        </p:nvSpPr>
        <p:spPr>
          <a:xfrm>
            <a:off x="158825" y="806350"/>
            <a:ext cx="8796600" cy="4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Prototype Performance report/Benchmarking</a:t>
            </a:r>
            <a:endParaRPr b="1" sz="1800"/>
          </a:p>
        </p:txBody>
      </p:sp>
      <p:sp>
        <p:nvSpPr>
          <p:cNvPr id="121" name="TextBox 120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Dataset:  </a:t>
            </a:r>
            <a:r>
              <a:rPr sz="1050" b="0">
                <a:solidFill>
                  <a:srgbClr val="2B374B"/>
                </a:solidFill>
                <a:latin typeface="Calibri"/>
              </a:rPr>
              <a:t>15,405 FIRs, 31 districts, 248 stations, 2023 to 2026 (synthetic, seed 42).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Natural language to SQL:  </a:t>
            </a:r>
            <a:r>
              <a:rPr sz="1050" b="0">
                <a:solidFill>
                  <a:srgbClr val="2B374B"/>
                </a:solidFill>
                <a:latin typeface="Calibri"/>
              </a:rPr>
              <a:t>76.7% overall (English 82.2%, Kannada 60.0%) measured on the local 7B development model; gold-versus-gold 100%. A live harness re-measures against the deployed GLM.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Serial linkage (SH-07):  </a:t>
            </a:r>
            <a:r>
              <a:rPr sz="1050" b="0">
                <a:solidFill>
                  <a:srgbClr val="2B374B"/>
                </a:solidFill>
                <a:latin typeface="Calibri"/>
              </a:rPr>
              <a:t>precision 0.86, recall 12 of 14; the disjoint SP-2 series is correctly not merged.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Counterfactual:  </a:t>
            </a:r>
            <a:r>
              <a:rPr sz="1050" b="0">
                <a:solidFill>
                  <a:srgbClr val="2B374B"/>
                </a:solidFill>
                <a:latin typeface="Calibri"/>
              </a:rPr>
              <a:t>the series becomes detectable at case 6; nine further offences across three districts followed over 142 days.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Investigation Cell:  </a:t>
            </a:r>
            <a:r>
              <a:rPr sz="1050" b="0">
                <a:solidFill>
                  <a:srgbClr val="2B374B"/>
                </a:solidFill>
                <a:latin typeface="Calibri"/>
              </a:rPr>
              <a:t>six agents complete in about 10 seconds, producing 8 ranked suspects.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Forecast (burglary):  </a:t>
            </a:r>
            <a:r>
              <a:rPr sz="1050" b="0">
                <a:solidFill>
                  <a:srgbClr val="2B374B"/>
                </a:solidFill>
                <a:latin typeface="Calibri"/>
              </a:rPr>
              <a:t>backtest MAE 1.83 against a seasonal-naive 1.75, which is competitive and honestly reported.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Guardrails:  </a:t>
            </a:r>
            <a:r>
              <a:rPr sz="1050" b="0">
                <a:solidFill>
                  <a:srgbClr val="2B374B"/>
                </a:solidFill>
                <a:latin typeface="Calibri"/>
              </a:rPr>
              <a:t>10 of 10 attack vectors blocked, re-tested live on every Trust Center load.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Robustness:  </a:t>
            </a:r>
            <a:r>
              <a:rPr sz="1050" b="0">
                <a:solidFill>
                  <a:srgbClr val="2B374B"/>
                </a:solidFill>
                <a:latin typeface="Calibri"/>
              </a:rPr>
              <a:t>thread-safe analytical layer: 60 concurrent requests, zero errors; caches pre-warmed at startup.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Linkage ground truth is public (data_engine/planted/*.yaml), so these numbers are independently verifiable.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25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5"/>
          <p:cNvSpPr txBox="1"/>
          <p:nvPr/>
        </p:nvSpPr>
        <p:spPr>
          <a:xfrm>
            <a:off x="146600" y="843000"/>
            <a:ext cx="88332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Provide links to your:</a:t>
            </a:r>
            <a:endParaRPr b="1" sz="1800"/>
          </a:p>
        </p:txBody>
      </p:sp>
      <p:sp>
        <p:nvSpPr>
          <p:cNvPr id="127" name="TextBox 126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GitHub (public):  </a:t>
            </a:r>
            <a:r>
              <a:rPr sz="1300" b="0">
                <a:solidFill>
                  <a:srgbClr val="1D4ED8"/>
                </a:solidFill>
                <a:latin typeface="Calibri"/>
              </a:rPr>
              <a:t>https://github.com/arungeekay/anveshak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Deployed link (Catalyst):  </a:t>
            </a:r>
            <a:r>
              <a:rPr sz="1300" b="0">
                <a:solidFill>
                  <a:srgbClr val="1D4ED8"/>
                </a:solidFill>
                <a:latin typeface="Calibri"/>
              </a:rPr>
              <a:t>https://anveshak-api-50044329134.development.catalystappsail.in/ui/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Demo video (3 min):  </a:t>
            </a:r>
            <a:r>
              <a:rPr sz="1300" b="0">
                <a:solidFill>
                  <a:srgbClr val="64748B"/>
                </a:solidFill>
                <a:latin typeface="Calibri"/>
              </a:rPr>
              <a:t>(add your public YouTube or Drive link)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API base: https://anveshak-api-50044329134.development.catalystappsail.in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26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26"/>
          <p:cNvSpPr txBox="1"/>
          <p:nvPr/>
        </p:nvSpPr>
        <p:spPr>
          <a:xfrm>
            <a:off x="109950" y="781900"/>
            <a:ext cx="8894100" cy="6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Additional Details/Future Development (if any)</a:t>
            </a:r>
            <a:endParaRPr b="1" sz="1800"/>
          </a:p>
        </p:txBody>
      </p:sp>
      <p:sp>
        <p:nvSpPr>
          <p:cNvPr id="133" name="TextBox 132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Roadmap to production: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B374B"/>
                </a:solidFill>
                <a:latin typeface="Calibri"/>
              </a:rPr>
              <a:t>• CCTNS integration: a live read connection plus identity resolution on name, parentage and date of birth, replacing the synthetic person key.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B374B"/>
                </a:solidFill>
                <a:latin typeface="Calibri"/>
              </a:rPr>
              <a:t>• Catalyst Auth issuing real officer identities into the scope layer that already enforces them server-side.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B374B"/>
                </a:solidFill>
                <a:latin typeface="Calibri"/>
              </a:rPr>
              <a:t>• Kannada tuning with hand-curated examples from real officer phrasing, which is our clearest measured gap.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B374B"/>
                </a:solidFill>
                <a:latin typeface="Calibri"/>
              </a:rPr>
              <a:t>• Human-in-the-loop learning: every analyst Confirm or Reject on a series becomes a label that improves precision.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B374B"/>
                </a:solidFill>
                <a:latin typeface="Calibri"/>
              </a:rPr>
              <a:t>• Photo intake: scan a paper FIR with a vision model, so the workflow starts where policing actually starts.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B374B"/>
                </a:solidFill>
                <a:latin typeface="Calibri"/>
              </a:rPr>
              <a:t>• A pilot with one district's live data.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27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7"/>
          <p:cNvSpPr txBox="1"/>
          <p:nvPr/>
        </p:nvSpPr>
        <p:spPr>
          <a:xfrm>
            <a:off x="146600" y="2249200"/>
            <a:ext cx="8833200" cy="14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Blank slide</a:t>
            </a:r>
            <a:endParaRPr b="1" sz="18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28" title="Framwdwdwde 1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