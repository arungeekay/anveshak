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9e9db54d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79e9db54d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9e9db5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9e9db5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9e9db54d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9e9db54d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79e9db54d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79e9db54d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79e9db54d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79e9db54d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79e9db54d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79e9db54d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79e9db54d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79e9db54d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3fd15ea4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e3fd15ea4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79e9db54d7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79e9db54d7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79e9db54d7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79e9db54d7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79e9db54d7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79e9db54d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79e9db54d7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79e9db54d7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79e9db54d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79e9db54d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79e9db54d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79e9db54d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9e9db54d7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9e9db54d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460650" y="3183225"/>
            <a:ext cx="8222700" cy="17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sz="1700" b="1">
                <a:solidFill>
                  <a:srgbClr val="FFFFFF"/>
                </a:solidFill>
                <a:latin typeface="Calibri"/>
              </a:rPr>
              <a:t>Team Details</a:t>
            </a:r>
            <a:endParaRPr b="1" sz="1500"/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FD8E6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CFD8E6"/>
                </a:solidFill>
                <a:latin typeface="Calibri"/>
              </a:rPr>
              <a:t>Team name:  Team Zen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CFD8E6"/>
                </a:solidFill>
                <a:latin typeface="Calibri"/>
              </a:rPr>
              <a:t>Team leader name:  Hiran Vikraman S R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CFD8E6"/>
                </a:solidFill>
                <a:latin typeface="Calibri"/>
              </a:rPr>
              <a:t>Team size:  2   (Hiran Vikraman S R · Arun G K)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CFD8E6"/>
                </a:solidFill>
                <a:latin typeface="Calibri"/>
              </a:rPr>
              <a:t>Problem Statement:  Challenge 1 — Intelligent Conversational AI for the KSP Crime Database. Enable officers to query the FIR/crime database in natural language (English &amp; Kannada) and get accurate, evidence-grounded answers.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/>
        </p:nvSpPr>
        <p:spPr>
          <a:xfrm>
            <a:off x="318650" y="6979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/>
              <a:t>Brief about the solution</a:t>
            </a:r>
            <a:endParaRPr b="1" sz="1600"/>
          </a:p>
        </p:txBody>
      </p:sp>
      <p:sp>
        <p:nvSpPr>
          <p:cNvPr id="61" name="TextBox 6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ANVESHAK (ಅನ್ವೇಷಕ</a:t>
            </a:r>
            <a:r>
              <a:rPr sz="1300" b="0">
                <a:solidFill>
                  <a:srgbClr val="CFD8E6"/>
                </a:solidFill>
                <a:latin typeface="Calibri"/>
              </a:rPr>
              <a:t> = “the investigator”) turns the KSP crime database into an </a:t>
            </a:r>
            <a:r>
              <a:rPr sz="1300" b="1">
                <a:solidFill>
                  <a:srgbClr val="FFFFFF"/>
                </a:solidFill>
                <a:latin typeface="Calibri"/>
              </a:rPr>
              <a:t>AI investigation partner</a:t>
            </a:r>
            <a:r>
              <a:rPr sz="1300" b="0">
                <a:solidFill>
                  <a:srgbClr val="CFD8E6"/>
                </a:solidFill>
                <a:latin typeface="Calibri"/>
              </a:rPr>
              <a:t> — not just a chatbot.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Ask in Kannada or English, by voice or text — get an answer in seconds, </a:t>
            </a:r>
            <a:r>
              <a:rPr sz="1200" b="1">
                <a:solidFill>
                  <a:srgbClr val="FFFFFF"/>
                </a:solidFill>
                <a:latin typeface="Calibri"/>
              </a:rPr>
              <a:t>with the evidence</a:t>
            </a:r>
            <a:r>
              <a:rPr sz="1200" b="0">
                <a:solidFill>
                  <a:srgbClr val="CFD8E6"/>
                </a:solidFill>
                <a:latin typeface="Calibri"/>
              </a:rPr>
              <a:t> (SQL + rows + case IDs) attached. No SQL skills, no analyst queue.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• Deterministic tools compute; the LLM only narrates</a:t>
            </a:r>
            <a:r>
              <a:rPr sz="1200" b="0">
                <a:solidFill>
                  <a:srgbClr val="CFD8E6"/>
                </a:solidFill>
                <a:latin typeface="Calibri"/>
              </a:rPr>
              <a:t> — every number traces to a tool result. Zero hallucinated statistics — essential for policing.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It doesn’t stop at answers — it works cases: links serial crime across districts, runs a 6-agent cell that assembles court-ready packs, traverses a crime knowledge graph, and sweeps overnight to raise leads before anyone asks.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• Impact: minutes instead of days, catches siloed records miss, and proactive leads every morning. </a:t>
            </a:r>
            <a:r>
              <a:rPr sz="1200" b="1">
                <a:solidFill>
                  <a:srgbClr val="5AD69C"/>
                </a:solidFill>
                <a:latin typeface="Calibri"/>
              </a:rPr>
              <a:t>Runs 100% on Zoho Catalyst.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/>
        </p:nvSpPr>
        <p:spPr>
          <a:xfrm>
            <a:off x="240800" y="7106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000000"/>
                </a:solidFill>
              </a:rPr>
              <a:t>Opportunities</a:t>
            </a:r>
            <a:endParaRPr b="1" sz="1600">
              <a:solidFill>
                <a:srgbClr val="000000"/>
              </a:solidFill>
            </a:endParaRPr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lphaLcPeriod"/>
            </a:pPr>
            <a:r>
              <a:rPr b="1" lang="en-GB" sz="1600">
                <a:solidFill>
                  <a:srgbClr val="000000"/>
                </a:solidFill>
              </a:rPr>
              <a:t>How different is it from any of the other existing ideas?</a:t>
            </a:r>
            <a:endParaRPr b="1" sz="1600">
              <a:solidFill>
                <a:srgbClr val="000000"/>
              </a:solidFill>
            </a:endParaRPr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lphaLcPeriod"/>
            </a:pPr>
            <a:r>
              <a:rPr b="1" lang="en-GB" sz="1600">
                <a:solidFill>
                  <a:srgbClr val="000000"/>
                </a:solidFill>
              </a:rPr>
              <a:t>How will it be able to solve the problem?</a:t>
            </a:r>
            <a:endParaRPr b="1" sz="1600">
              <a:solidFill>
                <a:srgbClr val="000000"/>
              </a:solidFill>
            </a:endParaRPr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lphaLcPeriod"/>
            </a:pPr>
            <a:r>
              <a:rPr b="1" lang="en-GB" sz="1600">
                <a:solidFill>
                  <a:srgbClr val="000000"/>
                </a:solidFill>
              </a:rPr>
              <a:t>USP of the proposed solution</a:t>
            </a:r>
            <a:endParaRPr b="1"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595959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How it is different, and how it solves the problem: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Most “crime chatbots” stop at NL→SQL. ANVESHAK adds an investigation layer: cross-district serial linkage, multi-agent case work, and proactive patrol.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• Trust by construction: </a:t>
            </a:r>
            <a:r>
              <a:rPr sz="1200" b="0">
                <a:solidFill>
                  <a:srgbClr val="CFD8E6"/>
                </a:solidFill>
                <a:latin typeface="Calibri"/>
              </a:rPr>
              <a:t>the LLM never invents numbers (deterministic tools + evidence drawer), and the linkage ground truth is public so results are independently verifiable.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• Cross-district reach: </a:t>
            </a:r>
            <a:r>
              <a:rPr sz="1200" b="0">
                <a:solidFill>
                  <a:srgbClr val="CFD8E6"/>
                </a:solidFill>
                <a:latin typeface="Calibri"/>
              </a:rPr>
              <a:t>MO fingerprinting via multilingual embeddings finds serial offenders that siloed district records miss.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• Built for real officers: </a:t>
            </a:r>
            <a:r>
              <a:rPr sz="1200" b="0">
                <a:solidFill>
                  <a:srgbClr val="CFD8E6"/>
                </a:solidFill>
                <a:latin typeface="Calibri"/>
              </a:rPr>
              <a:t>bilingual (Kannada + English) with browser voice, government-grade UI.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Where it makes a difference: </a:t>
            </a:r>
            <a:r>
              <a:rPr sz="1100" b="0">
                <a:solidFill>
                  <a:srgbClr val="CFD8E6"/>
                </a:solidFill>
                <a:latin typeface="Calibri"/>
              </a:rPr>
              <a:t>a constable at a rural station gets a statewide answer in Kannada in seconds · an SP spots a serial ring crossing Mandya into Bengaluru before the next strike · an IO gets a first-draft, court-ready pack in minutes · a control room sees tomorrow’s hotspot tonight.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5AB0FF"/>
                </a:solidFill>
                <a:latin typeface="Calibri"/>
              </a:rPr>
              <a:t>USP:  </a:t>
            </a:r>
            <a:r>
              <a:rPr sz="1150" b="0">
                <a:solidFill>
                  <a:srgbClr val="FFFFFF"/>
                </a:solidFill>
                <a:latin typeface="Calibri"/>
              </a:rPr>
              <a:t>“Ask a question, get a verified answer with evidence — and let the AI work the case end-to-end to a court-ready pack.”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6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of features offered by the solution</a:t>
            </a:r>
            <a:endParaRPr b="1" sz="1800"/>
          </a:p>
        </p:txBody>
      </p:sp>
      <p:sp>
        <p:nvSpPr>
          <p:cNvPr id="73" name="TextBox 7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1. Conversational floor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bilingual EN + Kannada, voice + text, verified NL→SQL with evidence drawer on every answer.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2. Serial Crime Linkage Engine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MO fingerprinting (multilingual embeddings + structured features), weighted cosine, HDBSCAN, 180-day / 120-km filter; discovers cross-district series cold.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3. AI Investigation Cell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6 agents stream their reasoning over SSE → court-ready Investigation Pack (PDF).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4. CrimeGraph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knowledge graph over people/cases; ego-network, shortest path, Louvain communities for multi-hop questions.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5. Night Patrol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spike / series-growth / repeat-offender detectors → ranked Lead Cards, autonomously.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6. Court-ready outputs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Investigation Pack + conversation-to-PDF via SmartBrowz.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7. Governance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RBAC scopes (SHO/SP/SCRB/analyst), audit log, and no protected attributes (religion/caste) in any model (ADR-9).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7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Process flow diagram or Use-case diagram</a:t>
            </a:r>
            <a:endParaRPr b="1" sz="1800"/>
          </a:p>
        </p:txBody>
      </p:sp>
      <p:sp>
        <p:nvSpPr>
          <p:cNvPr id="79" name="TextBox 78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Officer (EN/KN, voice or text)  →  React SPA  →  FastAPI intent router: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AB0FF"/>
                </a:solidFill>
                <a:latin typeface="Calibri"/>
              </a:rPr>
              <a:t>• NL→SQL path: </a:t>
            </a:r>
            <a:r>
              <a:rPr sz="1200" b="0">
                <a:solidFill>
                  <a:srgbClr val="CFD8E6"/>
                </a:solidFill>
                <a:latin typeface="Calibri"/>
              </a:rPr>
              <a:t>schema card + few-shots → sqlglot guardrails (SELECT-only, auto-LIMIT, self-repair) → DuckDB → answer + evidence drawer.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AB0FF"/>
                </a:solidFill>
                <a:latin typeface="Calibri"/>
              </a:rPr>
              <a:t>• Tool path: </a:t>
            </a:r>
            <a:r>
              <a:rPr sz="1200" b="0">
                <a:solidFill>
                  <a:srgbClr val="CFD8E6"/>
                </a:solidFill>
                <a:latin typeface="Calibri"/>
              </a:rPr>
              <a:t>linkage / graph / forecast / hotspots / risk / similar → DuckDB → verified result → LLM narrates.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AB0FF"/>
                </a:solidFill>
                <a:latin typeface="Calibri"/>
              </a:rPr>
              <a:t>• Investigation: </a:t>
            </a:r>
            <a:r>
              <a:rPr sz="1200" b="0">
                <a:solidFill>
                  <a:srgbClr val="CFD8E6"/>
                </a:solidFill>
                <a:latin typeface="Calibri"/>
              </a:rPr>
              <a:t>“Investigate SH-07” → 6-agent pipeline (SSE) → Investigation Pack → SmartBrowz PDF.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AB0FF"/>
                </a:solidFill>
                <a:latin typeface="Calibri"/>
              </a:rPr>
              <a:t>• Autonomous: </a:t>
            </a:r>
            <a:r>
              <a:rPr sz="1200" b="0">
                <a:solidFill>
                  <a:srgbClr val="CFD8E6"/>
                </a:solidFill>
                <a:latin typeface="Calibri"/>
              </a:rPr>
              <a:t>Cron → Night Patrol detectors → Lead Cards → Signals / Mail digest.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Two data layers (ADR-1): </a:t>
            </a:r>
            <a:r>
              <a:rPr sz="1100" b="0">
                <a:solidFill>
                  <a:srgbClr val="CFD8E6"/>
                </a:solidFill>
                <a:latin typeface="Calibri"/>
              </a:rPr>
              <a:t>Catalyst Data Store = system of record; an embedded DuckDB analytical mirror serves sub-second analytics.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Wireframes/Mock diagrams of the proposed solution (optional)</a:t>
            </a:r>
            <a:endParaRPr b="1" sz="1800"/>
          </a:p>
        </p:txBody>
      </p:sp>
      <p:sp>
        <p:nvSpPr>
          <p:cNvPr id="85" name="TextBox 84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Six views in the live prototype (government-grade dark theme):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Chat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bilingual answer + evidence drawer (SQL, rows, case IDs) + voice input.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Lead Feed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ranked Night-Patrol Lead Cards.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Series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discovered serial-crime hypotheses with confidence + linked case IDs.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CrimeGraph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interactive people/case network with community highlighting.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Investigation Room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six agent cards stream live, then the assembled pack.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Audit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every action logged (user, role, action, detail).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AB0FF"/>
                </a:solidFill>
                <a:latin typeface="Calibri"/>
              </a:rPr>
              <a:t>Live: https://anveshak-api-50044329134.development.catalystappsail.in/ui/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9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Architecture diagram of the proposed solution</a:t>
            </a:r>
            <a:endParaRPr b="1" sz="1800"/>
          </a:p>
        </p:txBody>
      </p:sp>
      <p:sp>
        <p:nvSpPr>
          <p:cNvPr id="91" name="TextBox 9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Officer (EN/KN, voice+text)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React SPA  (served on Catalyst)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FastAPI backend on Catalyst AppSail  →  intent router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8A97A8"/>
                </a:solidFill>
                <a:latin typeface="Calibri"/>
              </a:rPr>
              <a:t>⤷  NL→SQL (guardrails + self-repair)   and   typed tools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8A97A8"/>
                </a:solidFill>
                <a:latin typeface="Calibri"/>
              </a:rPr>
              <a:t>(linkage · graph · forecast · hotspots · risk · similar)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DuckDB analytical mirror  ⟷  Catalyst Data Store (system of record)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LLM adapter  →  Catalyst QuickML  →  GLM-4.7-Flash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6-agent Investigation Cell (SSE)  →  SmartBrowz  →  Pack PDF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Cron  →  Night Patrol detectors  →  Lead Cards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Deterministic tools, LLM narrates (ADR-2). </a:t>
            </a:r>
            <a:r>
              <a:rPr sz="1050" b="0">
                <a:solidFill>
                  <a:srgbClr val="CFD8E6"/>
                </a:solidFill>
                <a:latin typeface="Calibri"/>
              </a:rPr>
              <a:t>No external inference API is ever called from the deployed app (ADR-4).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0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0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Technologies to be used in the solution</a:t>
            </a:r>
            <a:endParaRPr b="1" sz="1800"/>
          </a:p>
        </p:txBody>
      </p:sp>
      <p:sp>
        <p:nvSpPr>
          <p:cNvPr id="97" name="TextBox 9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Backend:  </a:t>
            </a:r>
            <a:r>
              <a:rPr sz="1150" b="0">
                <a:solidFill>
                  <a:srgbClr val="CFD8E6"/>
                </a:solidFill>
                <a:latin typeface="Calibri"/>
              </a:rPr>
              <a:t>Python 3.12, FastAPI, DuckDB, sqlglot, sentence-transformers (paraphrase-multilingual-MiniLM-L12-v2), scikit-learn / HDBSCAN, NetworkX + Louvain, statsmodels SARIMA, sse-starlette.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Frontend:  </a:t>
            </a:r>
            <a:r>
              <a:rPr sz="1150" b="0">
                <a:solidFill>
                  <a:srgbClr val="CFD8E6"/>
                </a:solidFill>
                <a:latin typeface="Calibri"/>
              </a:rPr>
              <a:t>React 18, Vite, Tailwind CSS, ECharts (charts + network graph), Leaflet + OpenStreetMap, Web Speech API (kn-IN voice).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LLM:  </a:t>
            </a:r>
            <a:r>
              <a:rPr sz="1150" b="0">
                <a:solidFill>
                  <a:srgbClr val="CFD8E6"/>
                </a:solidFill>
                <a:latin typeface="Calibri"/>
              </a:rPr>
              <a:t>GLM-4.7-Flash served via Catalyst QuickML LLM Serving.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Packaging:  </a:t>
            </a:r>
            <a:r>
              <a:rPr sz="1150" b="0">
                <a:solidFill>
                  <a:srgbClr val="CFD8E6"/>
                </a:solidFill>
                <a:latin typeface="Calibri"/>
              </a:rPr>
              <a:t>Docker (custom AppSail runtime — bakes the scientific stack).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Quality:  </a:t>
            </a:r>
            <a:r>
              <a:rPr sz="1150" b="0">
                <a:solidFill>
                  <a:srgbClr val="CFD8E6"/>
                </a:solidFill>
                <a:latin typeface="Calibri"/>
              </a:rPr>
              <a:t>pytest suite (46 tests), bilingual eval harness (60 questions), public linkage ground truth.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1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1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down Catalyst Services being used in the solution</a:t>
            </a:r>
            <a:endParaRPr b="1" sz="1800"/>
          </a:p>
        </p:txBody>
      </p:sp>
      <p:sp>
        <p:nvSpPr>
          <p:cNvPr id="103" name="TextBox 10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5AD69C"/>
                </a:solidFill>
                <a:latin typeface="Calibri"/>
              </a:rPr>
              <a:t>Live now:  </a:t>
            </a:r>
            <a:r>
              <a:rPr sz="1150" b="0">
                <a:solidFill>
                  <a:srgbClr val="CFD8E6"/>
                </a:solidFill>
                <a:latin typeface="Calibri"/>
              </a:rPr>
              <a:t>AppSail (FastAPI, custom Docker runtime)  ·  QuickML LLM Serving (GLM-4.7-Flash)  ·  Web Client Hosting  ·  Authentication  ·  API Gateway.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5AB0FF"/>
                </a:solidFill>
                <a:latin typeface="Calibri"/>
              </a:rPr>
              <a:t>In the architecture / provisioned:  </a:t>
            </a:r>
            <a:r>
              <a:rPr sz="1150" b="0">
                <a:solidFill>
                  <a:srgbClr val="CFD8E6"/>
                </a:solidFill>
                <a:latin typeface="Calibri"/>
              </a:rPr>
              <a:t>Data Store (system of record)  ·  NoSQL (graph snapshots)  ·  SmartBrowz (pack PDF)  ·  Cron (Night Patrol)  ·  Signals + Mail (lead digests)  ·  Cache  ·  Stratus (pack storage).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Deployment is exclusively on Zoho Catalyst, per the competition mandate.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2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Estimated implementation cost (optional)</a:t>
            </a:r>
            <a:endParaRPr b="1" sz="1800"/>
          </a:p>
        </p:txBody>
      </p:sp>
      <p:sp>
        <p:nvSpPr>
          <p:cNvPr id="109" name="TextBox 108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prototype runs within the Catalyst development tier.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AppSail: 1 GB memory, single instance (custom Docker runtime).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QuickML: GLM-4.7-Flash is a Zoho-hosted shared model — no per-model deployment cost; billed per token at production scale.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Web Client Hosting + Data Store + Cron: serverless, usage-based.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Embeddings are precomputed at data-generation time, so runtime needs no GPU / heavy inference for search.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3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Snapshots of the prototype</a:t>
            </a:r>
            <a:endParaRPr b="1" sz="1800"/>
          </a:p>
        </p:txBody>
      </p:sp>
      <p:sp>
        <p:nvSpPr>
          <p:cNvPr id="115" name="TextBox 114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Add screenshots from the live prototype (suggested captures):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Chat — English answer + evidence drawer (SQL, rows, case IDs).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Chat — a Kannada question answered.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Series — SH-07 discovered (confidence 0.88, 15 linked cases).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CrimeGraph — the Prakash Rao hub network.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Investigation Room — six agents streaming, then the assembled pack.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Lead Feed — Whitefield spike + repeat-offender Lead Cards.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AB0FF"/>
                </a:solidFill>
                <a:latin typeface="Calibri"/>
              </a:rPr>
              <a:t>Live app: https://anveshak-api-50044329134.development.catalystappsail.in/ui/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4"/>
          <p:cNvSpPr txBox="1"/>
          <p:nvPr/>
        </p:nvSpPr>
        <p:spPr>
          <a:xfrm>
            <a:off x="158825" y="806350"/>
            <a:ext cx="8796600" cy="4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Prototype Performance report/Benchmarking</a:t>
            </a:r>
            <a:endParaRPr b="1" sz="1800"/>
          </a:p>
        </p:txBody>
      </p:sp>
      <p:sp>
        <p:nvSpPr>
          <p:cNvPr id="121" name="TextBox 12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Dataset:  </a:t>
            </a:r>
            <a:r>
              <a:rPr sz="1100" b="0">
                <a:solidFill>
                  <a:srgbClr val="CFD8E6"/>
                </a:solidFill>
                <a:latin typeface="Calibri"/>
              </a:rPr>
              <a:t>15,405 FIRs · 31 districts · 248 stations · 2023–2026 (synthetic, seed 42).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NL→SQL accuracy:  </a:t>
            </a:r>
            <a:r>
              <a:rPr sz="1100" b="0">
                <a:solidFill>
                  <a:srgbClr val="CFD8E6"/>
                </a:solidFill>
                <a:latin typeface="Calibri"/>
              </a:rPr>
              <a:t>76.7% overall (EN 82.2%, KN 60.0%) on the local 7B dev model; gold-vs-gold 100%. Production GLM-4.7-Flash is expected higher.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Serial linkage (SH-07):  </a:t>
            </a:r>
            <a:r>
              <a:rPr sz="1100" b="0">
                <a:solidFill>
                  <a:srgbClr val="CFD8E6"/>
                </a:solidFill>
                <a:latin typeface="Calibri"/>
              </a:rPr>
              <a:t>precision 0.86 · recall 12/14; the disjoint SP-2 series correctly not merged.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Forecast (burglary):  </a:t>
            </a:r>
            <a:r>
              <a:rPr sz="1100" b="0">
                <a:solidFill>
                  <a:srgbClr val="CFD8E6"/>
                </a:solidFill>
                <a:latin typeface="Calibri"/>
              </a:rPr>
              <a:t>backtest MAE 1.83 vs seasonal-naive 1.75 — competitive and honestly reported.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Repeat-offender risk:  </a:t>
            </a:r>
            <a:r>
              <a:rPr sz="1100" b="0">
                <a:solidFill>
                  <a:srgbClr val="CFD8E6"/>
                </a:solidFill>
                <a:latin typeface="Calibri"/>
              </a:rPr>
              <a:t>Suresh B scores 0.83 (recency / frequency / gravity / centrality).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Night Patrol:  </a:t>
            </a:r>
            <a:r>
              <a:rPr sz="1100" b="0">
                <a:solidFill>
                  <a:srgbClr val="CFD8E6"/>
                </a:solidFill>
                <a:latin typeface="Calibri"/>
              </a:rPr>
              <a:t>Whitefield spike + repeat-offender cluster fire on the planted anomalies.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Robustness:  </a:t>
            </a:r>
            <a:r>
              <a:rPr sz="1100" b="0">
                <a:solidFill>
                  <a:srgbClr val="CFD8E6"/>
                </a:solidFill>
                <a:latin typeface="Calibri"/>
              </a:rPr>
              <a:t>thread-safe analytical layer — 60 concurrent requests, 0 errors; caches pre-warmed at startup.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8A97A8"/>
                </a:solidFill>
                <a:latin typeface="Calibri"/>
              </a:rPr>
              <a:t>Linkage ground truth is public (data_engine/planted/*.yaml) — numbers are independently verifiable.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Provide links to your: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-GB" sz="1800"/>
              <a:t>GitHub Public Repository</a:t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-GB" sz="1800"/>
              <a:t>Demo Video Link (3 Minutes)</a:t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-GB" sz="1800"/>
              <a:t>Deployed Link</a:t>
            </a:r>
            <a:endParaRPr b="1" sz="1800"/>
          </a:p>
        </p:txBody>
      </p:sp>
      <p:sp>
        <p:nvSpPr>
          <p:cNvPr id="127" name="TextBox 12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GitHub (public):  </a:t>
            </a:r>
            <a:r>
              <a:rPr sz="1300" b="0">
                <a:solidFill>
                  <a:srgbClr val="5AB0FF"/>
                </a:solidFill>
                <a:latin typeface="Calibri"/>
              </a:rPr>
              <a:t>https://github.com/arungeekay/anveshak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Deployed link (Catalyst):  </a:t>
            </a:r>
            <a:r>
              <a:rPr sz="1300" b="0">
                <a:solidFill>
                  <a:srgbClr val="5AB0FF"/>
                </a:solidFill>
                <a:latin typeface="Calibri"/>
              </a:rPr>
              <a:t>https://anveshak-api-50044329134.development.catalystappsail.in/ui/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Demo video (3 min):  </a:t>
            </a:r>
            <a:r>
              <a:rPr sz="1300" b="0">
                <a:solidFill>
                  <a:srgbClr val="8A97A8"/>
                </a:solidFill>
                <a:latin typeface="Calibri"/>
              </a:rPr>
              <a:t>(add your public YouTube / Drive link)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8A97A8"/>
                </a:solidFill>
                <a:latin typeface="Calibri"/>
              </a:rPr>
              <a:t>API base: https://anveshak-api-50044329134.development.catalystappsail.in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6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Additional Details/Future Development (if any)</a:t>
            </a:r>
            <a:endParaRPr b="1" sz="1800"/>
          </a:p>
        </p:txBody>
      </p:sp>
      <p:sp>
        <p:nvSpPr>
          <p:cNvPr id="133" name="TextBox 13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Roadmap to production: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RBAC server-side scope injection (designed, ADR-8) → full enforcement via Catalyst Auth.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Live Data Store loader + FIR-intake write-back; NoSQL graph persistence.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SmartBrowz pack PDF, Cron schedule, and Signals / Mail digests fully wired end-to-end.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Real CCTNS identity resolution (name / parentage / DOB) replacing the synthetic person_key.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Kannada NL→SQL tuning (hand-curated few-shots) to lift KN accuracy toward the EN level.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Human-in-the-loop feedback on linkage / leads to continuously improve precision.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7"/>
          <p:cNvSpPr txBox="1"/>
          <p:nvPr/>
        </p:nvSpPr>
        <p:spPr>
          <a:xfrm>
            <a:off x="146600" y="2249200"/>
            <a:ext cx="8833200" cy="14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Blank slide</a:t>
            </a:r>
            <a:endParaRPr b="1"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8" title="Framwdwdwde 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