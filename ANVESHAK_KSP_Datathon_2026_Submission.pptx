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1" r:id="rId21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279e9db54d7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279e9db54d7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279e9db54d7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279e9db54d7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279e9db54d7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279e9db54d7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279e9db54d7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" name="Google Shape;75;g279e9db54d7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279e9db54d7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279e9db54d7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279e9db54d7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279e9db54d7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279e9db54d7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279e9db54d7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e3fd15ea43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" name="Google Shape;99;g3e3fd15ea4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279e9db54d7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279e9db54d7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279e9db54d7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279e9db54d7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279e9db54d7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g279e9db54d7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279e9db54d7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" name="Google Shape;123;g279e9db54d7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279e9db54d7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279e9db54d7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279e9db54d7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279e9db54d7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279e9db54d7_0_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279e9db54d7_0_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460650" y="3183225"/>
            <a:ext cx="8222700" cy="178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sz="1700" b="1">
                <a:solidFill>
                  <a:srgbClr val="0B1F3A"/>
                </a:solidFill>
                <a:latin typeface="Calibri"/>
              </a:rPr>
              <a:t>Team Details</a:t>
            </a:r>
            <a:endParaRPr b="1" sz="1500"/>
          </a:p>
          <a:p>
            <a:pPr>
              <a:spcAft>
                <a:spcPts val="400"/>
              </a:spcAft>
            </a:pPr>
            <a:r>
              <a:rPr sz="600" b="0">
                <a:solidFill>
                  <a:srgbClr val="2B374B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2B374B"/>
                </a:solidFill>
                <a:latin typeface="Calibri"/>
              </a:rPr>
              <a:t>Team name:  Team Zen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2B374B"/>
                </a:solidFill>
                <a:latin typeface="Calibri"/>
              </a:rPr>
              <a:t>Team leader name:  Hiran Vikraman S R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2B374B"/>
                </a:solidFill>
                <a:latin typeface="Calibri"/>
              </a:rPr>
              <a:t>Team size:  2   (Hiran Vikraman S R · Arun G K)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B374B"/>
                </a:solidFill>
                <a:latin typeface="Calibri"/>
              </a:rPr>
              <a:t>Problem Statement:  Challenge 1 — Intelligent Conversational AI for the KSP Crime Database. Enable officers to query the FIR/crime database in natural language (English &amp; Kannada) and get accurate, evidence-grounded answers.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Google Shape;59;p14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/>
        </p:nvSpPr>
        <p:spPr>
          <a:xfrm>
            <a:off x="318650" y="69797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600"/>
              <a:t>Brief about the solution</a:t>
            </a:r>
            <a:endParaRPr b="1" sz="1600"/>
          </a:p>
        </p:txBody>
      </p:sp>
      <p:sp>
        <p:nvSpPr>
          <p:cNvPr id="61" name="TextBox 60"/>
          <p:cNvSpPr txBox="1"/>
          <p:nvPr/>
        </p:nvSpPr>
        <p:spPr>
          <a:xfrm>
            <a:off x="502920" y="1417320"/>
            <a:ext cx="8183879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ANVESHAK (ಅನ್ವೇಷಕ</a:t>
            </a:r>
            <a:r>
              <a:rPr sz="1300" b="0">
                <a:solidFill>
                  <a:srgbClr val="2B374B"/>
                </a:solidFill>
                <a:latin typeface="Calibri"/>
              </a:rPr>
              <a:t> = “the investigator”) turns the KSP crime database into an </a:t>
            </a:r>
            <a:r>
              <a:rPr sz="1300" b="1">
                <a:solidFill>
                  <a:srgbClr val="0B1F3A"/>
                </a:solidFill>
                <a:latin typeface="Calibri"/>
              </a:rPr>
              <a:t>AI investigation partner</a:t>
            </a:r>
            <a:r>
              <a:rPr sz="1300" b="0">
                <a:solidFill>
                  <a:srgbClr val="2B374B"/>
                </a:solidFill>
                <a:latin typeface="Calibri"/>
              </a:rPr>
              <a:t> — not just a chatbot.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B374B"/>
                </a:solidFill>
                <a:latin typeface="Calibri"/>
              </a:rPr>
              <a:t>• Ask in Kannada or English, by voice or text — get an answer in seconds, </a:t>
            </a:r>
            <a:r>
              <a:rPr sz="1200" b="1">
                <a:solidFill>
                  <a:srgbClr val="0B1F3A"/>
                </a:solidFill>
                <a:latin typeface="Calibri"/>
              </a:rPr>
              <a:t>with the evidence</a:t>
            </a:r>
            <a:r>
              <a:rPr sz="1200" b="0">
                <a:solidFill>
                  <a:srgbClr val="2B374B"/>
                </a:solidFill>
                <a:latin typeface="Calibri"/>
              </a:rPr>
              <a:t> (SQL + rows + case IDs) attached. No SQL skills, no analyst queue.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0B1F3A"/>
                </a:solidFill>
                <a:latin typeface="Calibri"/>
              </a:rPr>
              <a:t>• Deterministic tools compute; the LLM only narrates</a:t>
            </a:r>
            <a:r>
              <a:rPr sz="1200" b="0">
                <a:solidFill>
                  <a:srgbClr val="2B374B"/>
                </a:solidFill>
                <a:latin typeface="Calibri"/>
              </a:rPr>
              <a:t> — every number traces to a tool result. Zero hallucinated statistics — essential for policing.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B374B"/>
                </a:solidFill>
                <a:latin typeface="Calibri"/>
              </a:rPr>
              <a:t>• It doesn’t stop at answers — it works cases: links serial crime across districts, runs a 6-agent cell that assembles court-ready packs, traverses a crime knowledge graph, and sweeps overnight to raise leads before anyone asks.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Calibri"/>
              </a:rPr>
              <a:t>• Impact: minutes instead of days, catches siloed records miss, and proactive leads every morning. </a:t>
            </a:r>
            <a:r>
              <a:rPr sz="1200" b="1">
                <a:solidFill>
                  <a:srgbClr val="047855"/>
                </a:solidFill>
                <a:latin typeface="Calibri"/>
              </a:rPr>
              <a:t>Runs 100% on Zoho Catalyst.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15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5"/>
          <p:cNvSpPr txBox="1"/>
          <p:nvPr/>
        </p:nvSpPr>
        <p:spPr>
          <a:xfrm>
            <a:off x="240800" y="710650"/>
            <a:ext cx="8784300" cy="141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600">
                <a:solidFill>
                  <a:srgbClr val="000000"/>
                </a:solidFill>
              </a:rPr>
              <a:t>Opportunities</a:t>
            </a:r>
            <a:endParaRPr b="1" sz="1600">
              <a:solidFill>
                <a:srgbClr val="000000"/>
              </a:solidFill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502920" y="1417320"/>
            <a:ext cx="8183879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0B1F3A"/>
                </a:solidFill>
                <a:latin typeface="Calibri"/>
              </a:rPr>
              <a:t>How it is different, and how it solves the problem: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B374B"/>
                </a:solidFill>
                <a:latin typeface="Calibri"/>
              </a:rPr>
              <a:t>• Most “crime chatbots” stop at NL→SQL. ANVESHAK adds an investigation layer: cross-district serial linkage, multi-agent case work, and proactive patrol.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0B1F3A"/>
                </a:solidFill>
                <a:latin typeface="Calibri"/>
              </a:rPr>
              <a:t>• Trust by construction: </a:t>
            </a:r>
            <a:r>
              <a:rPr sz="1200" b="0">
                <a:solidFill>
                  <a:srgbClr val="2B374B"/>
                </a:solidFill>
                <a:latin typeface="Calibri"/>
              </a:rPr>
              <a:t>the LLM never invents numbers (deterministic tools + evidence drawer), and the linkage ground truth is public so results are independently verifiable.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0B1F3A"/>
                </a:solidFill>
                <a:latin typeface="Calibri"/>
              </a:rPr>
              <a:t>• Cross-district reach: </a:t>
            </a:r>
            <a:r>
              <a:rPr sz="1200" b="0">
                <a:solidFill>
                  <a:srgbClr val="2B374B"/>
                </a:solidFill>
                <a:latin typeface="Calibri"/>
              </a:rPr>
              <a:t>MO fingerprinting via multilingual embeddings finds serial offenders that siloed district records miss.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0B1F3A"/>
                </a:solidFill>
                <a:latin typeface="Calibri"/>
              </a:rPr>
              <a:t>• Built for real officers: </a:t>
            </a:r>
            <a:r>
              <a:rPr sz="1200" b="0">
                <a:solidFill>
                  <a:srgbClr val="2B374B"/>
                </a:solidFill>
                <a:latin typeface="Calibri"/>
              </a:rPr>
              <a:t>bilingual (Kannada + English) with browser voice, government-grade UI.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B1F3A"/>
                </a:solidFill>
                <a:latin typeface="Calibri"/>
              </a:rPr>
              <a:t>Where it makes a difference: </a:t>
            </a:r>
            <a:r>
              <a:rPr sz="1100" b="0">
                <a:solidFill>
                  <a:srgbClr val="2B374B"/>
                </a:solidFill>
                <a:latin typeface="Calibri"/>
              </a:rPr>
              <a:t>a constable at a rural station gets a statewide answer in Kannada in seconds · an SP spots a serial ring crossing Mandya into Bengaluru before the next strike · an IO gets a first-draft, court-ready pack in minutes · a control room sees tomorrow’s hotspot tonight.</a:t>
            </a:r>
          </a:p>
          <a:p>
            <a:pPr>
              <a:spcAft>
                <a:spcPts val="200"/>
              </a:spcAft>
            </a:pPr>
            <a:r>
              <a:rPr sz="1150" b="1">
                <a:solidFill>
                  <a:srgbClr val="1D4ED8"/>
                </a:solidFill>
                <a:latin typeface="Calibri"/>
              </a:rPr>
              <a:t>USP:  </a:t>
            </a:r>
            <a:r>
              <a:rPr sz="1150" b="0">
                <a:solidFill>
                  <a:srgbClr val="0B1F3A"/>
                </a:solidFill>
                <a:latin typeface="Calibri"/>
              </a:rPr>
              <a:t>“Ask a question, get a verified answer with evidence — and let the AI work the case end-to-end to a court-ready pack.”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Google Shape;71;p16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6"/>
          <p:cNvSpPr txBox="1"/>
          <p:nvPr/>
        </p:nvSpPr>
        <p:spPr>
          <a:xfrm>
            <a:off x="195475" y="855225"/>
            <a:ext cx="8698800" cy="54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/>
              <a:t>List of features offered by the solution</a:t>
            </a:r>
            <a:endParaRPr b="1" sz="1800"/>
          </a:p>
        </p:txBody>
      </p:sp>
      <p:sp>
        <p:nvSpPr>
          <p:cNvPr id="73" name="TextBox 72"/>
          <p:cNvSpPr txBox="1"/>
          <p:nvPr/>
        </p:nvSpPr>
        <p:spPr>
          <a:xfrm>
            <a:off x="502920" y="1417320"/>
            <a:ext cx="8183879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50" b="1">
                <a:solidFill>
                  <a:srgbClr val="0B1F3A"/>
                </a:solidFill>
                <a:latin typeface="Calibri"/>
              </a:rPr>
              <a:t>1. Conversational floor</a:t>
            </a:r>
            <a:r>
              <a:rPr sz="1150" b="0">
                <a:solidFill>
                  <a:srgbClr val="2B374B"/>
                </a:solidFill>
                <a:latin typeface="Calibri"/>
              </a:rPr>
              <a:t> — bilingual EN + Kannada, voice + text, verified NL→SQL with evidence drawer on every answer.</a:t>
            </a:r>
          </a:p>
          <a:p>
            <a:pPr>
              <a:spcAft>
                <a:spcPts val="500"/>
              </a:spcAft>
            </a:pPr>
            <a:r>
              <a:rPr sz="1150" b="1">
                <a:solidFill>
                  <a:srgbClr val="0B1F3A"/>
                </a:solidFill>
                <a:latin typeface="Calibri"/>
              </a:rPr>
              <a:t>2. Serial Crime Linkage Engine</a:t>
            </a:r>
            <a:r>
              <a:rPr sz="1150" b="0">
                <a:solidFill>
                  <a:srgbClr val="2B374B"/>
                </a:solidFill>
                <a:latin typeface="Calibri"/>
              </a:rPr>
              <a:t> — MO fingerprinting (multilingual embeddings + structured features), weighted cosine, HDBSCAN, 180-day / 120-km filter; discovers cross-district series cold.</a:t>
            </a:r>
          </a:p>
          <a:p>
            <a:pPr>
              <a:spcAft>
                <a:spcPts val="500"/>
              </a:spcAft>
            </a:pPr>
            <a:r>
              <a:rPr sz="1150" b="1">
                <a:solidFill>
                  <a:srgbClr val="0B1F3A"/>
                </a:solidFill>
                <a:latin typeface="Calibri"/>
              </a:rPr>
              <a:t>3. AI Investigation Cell</a:t>
            </a:r>
            <a:r>
              <a:rPr sz="1150" b="0">
                <a:solidFill>
                  <a:srgbClr val="2B374B"/>
                </a:solidFill>
                <a:latin typeface="Calibri"/>
              </a:rPr>
              <a:t> — 6 agents stream their reasoning over SSE → court-ready Investigation Pack (PDF).</a:t>
            </a:r>
          </a:p>
          <a:p>
            <a:pPr>
              <a:spcAft>
                <a:spcPts val="500"/>
              </a:spcAft>
            </a:pPr>
            <a:r>
              <a:rPr sz="1150" b="1">
                <a:solidFill>
                  <a:srgbClr val="0B1F3A"/>
                </a:solidFill>
                <a:latin typeface="Calibri"/>
              </a:rPr>
              <a:t>4. CrimeGraph</a:t>
            </a:r>
            <a:r>
              <a:rPr sz="1150" b="0">
                <a:solidFill>
                  <a:srgbClr val="2B374B"/>
                </a:solidFill>
                <a:latin typeface="Calibri"/>
              </a:rPr>
              <a:t> — knowledge graph over people/cases; ego-network, shortest path, Louvain communities for multi-hop questions.</a:t>
            </a:r>
          </a:p>
          <a:p>
            <a:pPr>
              <a:spcAft>
                <a:spcPts val="500"/>
              </a:spcAft>
            </a:pPr>
            <a:r>
              <a:rPr sz="1150" b="1">
                <a:solidFill>
                  <a:srgbClr val="0B1F3A"/>
                </a:solidFill>
                <a:latin typeface="Calibri"/>
              </a:rPr>
              <a:t>5. Night Patrol</a:t>
            </a:r>
            <a:r>
              <a:rPr sz="1150" b="0">
                <a:solidFill>
                  <a:srgbClr val="2B374B"/>
                </a:solidFill>
                <a:latin typeface="Calibri"/>
              </a:rPr>
              <a:t> — spike / series-growth / repeat-offender detectors → ranked Lead Cards, autonomously.</a:t>
            </a:r>
          </a:p>
          <a:p>
            <a:pPr>
              <a:spcAft>
                <a:spcPts val="500"/>
              </a:spcAft>
            </a:pPr>
            <a:r>
              <a:rPr sz="1150" b="1">
                <a:solidFill>
                  <a:srgbClr val="0B1F3A"/>
                </a:solidFill>
                <a:latin typeface="Calibri"/>
              </a:rPr>
              <a:t>6. Court-ready outputs</a:t>
            </a:r>
            <a:r>
              <a:rPr sz="1150" b="0">
                <a:solidFill>
                  <a:srgbClr val="2B374B"/>
                </a:solidFill>
                <a:latin typeface="Calibri"/>
              </a:rPr>
              <a:t> — Investigation Pack + conversation-to-PDF via SmartBrowz.</a:t>
            </a:r>
          </a:p>
          <a:p>
            <a:pPr>
              <a:spcAft>
                <a:spcPts val="500"/>
              </a:spcAft>
            </a:pPr>
            <a:r>
              <a:rPr sz="1150" b="1">
                <a:solidFill>
                  <a:srgbClr val="0B1F3A"/>
                </a:solidFill>
                <a:latin typeface="Calibri"/>
              </a:rPr>
              <a:t>7. Governance</a:t>
            </a:r>
            <a:r>
              <a:rPr sz="1150" b="0">
                <a:solidFill>
                  <a:srgbClr val="2B374B"/>
                </a:solidFill>
                <a:latin typeface="Calibri"/>
              </a:rPr>
              <a:t> — RBAC scopes (SHO/SP/SCRB/analyst), audit log, and no protected attributes (religion/caste) in any model (ADR-9).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Google Shape;77;p17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7"/>
          <p:cNvSpPr txBox="1"/>
          <p:nvPr/>
        </p:nvSpPr>
        <p:spPr>
          <a:xfrm>
            <a:off x="195475" y="830775"/>
            <a:ext cx="8772000" cy="51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/>
              <a:t>Process flow diagram or Use-case diagram</a:t>
            </a:r>
            <a:endParaRPr b="1" sz="1800"/>
          </a:p>
        </p:txBody>
      </p:sp>
      <p:sp>
        <p:nvSpPr>
          <p:cNvPr id="79" name="TextBox 78"/>
          <p:cNvSpPr txBox="1"/>
          <p:nvPr/>
        </p:nvSpPr>
        <p:spPr>
          <a:xfrm>
            <a:off x="502920" y="1417320"/>
            <a:ext cx="8183879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0B1F3A"/>
                </a:solidFill>
                <a:latin typeface="Calibri"/>
              </a:rPr>
              <a:t>Officer (EN/KN, voice or text)  →  React SPA  →  FastAPI intent router: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1D4ED8"/>
                </a:solidFill>
                <a:latin typeface="Calibri"/>
              </a:rPr>
              <a:t>• NL→SQL path: </a:t>
            </a:r>
            <a:r>
              <a:rPr sz="1200" b="0">
                <a:solidFill>
                  <a:srgbClr val="2B374B"/>
                </a:solidFill>
                <a:latin typeface="Calibri"/>
              </a:rPr>
              <a:t>schema card + few-shots → sqlglot guardrails (SELECT-only, auto-LIMIT, self-repair) → DuckDB → answer + evidence drawer.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1D4ED8"/>
                </a:solidFill>
                <a:latin typeface="Calibri"/>
              </a:rPr>
              <a:t>• Tool path: </a:t>
            </a:r>
            <a:r>
              <a:rPr sz="1200" b="0">
                <a:solidFill>
                  <a:srgbClr val="2B374B"/>
                </a:solidFill>
                <a:latin typeface="Calibri"/>
              </a:rPr>
              <a:t>linkage / graph / forecast / hotspots / risk / similar → DuckDB → verified result → LLM narrates.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1D4ED8"/>
                </a:solidFill>
                <a:latin typeface="Calibri"/>
              </a:rPr>
              <a:t>• Investigation: </a:t>
            </a:r>
            <a:r>
              <a:rPr sz="1200" b="0">
                <a:solidFill>
                  <a:srgbClr val="2B374B"/>
                </a:solidFill>
                <a:latin typeface="Calibri"/>
              </a:rPr>
              <a:t>“Investigate SH-07” → 6-agent pipeline (SSE) → Investigation Pack → SmartBrowz PDF.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1D4ED8"/>
                </a:solidFill>
                <a:latin typeface="Calibri"/>
              </a:rPr>
              <a:t>• Autonomous: </a:t>
            </a:r>
            <a:r>
              <a:rPr sz="1200" b="0">
                <a:solidFill>
                  <a:srgbClr val="2B374B"/>
                </a:solidFill>
                <a:latin typeface="Calibri"/>
              </a:rPr>
              <a:t>Cron → Night Patrol detectors → Lead Cards → Signals / Mail digest.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B1F3A"/>
                </a:solidFill>
                <a:latin typeface="Calibri"/>
              </a:rPr>
              <a:t>Two data layers (ADR-1): </a:t>
            </a:r>
            <a:r>
              <a:rPr sz="1100" b="0">
                <a:solidFill>
                  <a:srgbClr val="2B374B"/>
                </a:solidFill>
                <a:latin typeface="Calibri"/>
              </a:rPr>
              <a:t>Catalyst Data Store = system of record; an embedded DuckDB analytical mirror serves sub-second analytics.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" name="Google Shape;83;p18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8"/>
          <p:cNvSpPr txBox="1"/>
          <p:nvPr/>
        </p:nvSpPr>
        <p:spPr>
          <a:xfrm>
            <a:off x="207700" y="879650"/>
            <a:ext cx="87231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/>
              <a:t>Wireframes/Mock diagrams of the proposed solution (optional)</a:t>
            </a:r>
            <a:endParaRPr b="1" sz="1800"/>
          </a:p>
        </p:txBody>
      </p:sp>
      <p:sp>
        <p:nvSpPr>
          <p:cNvPr id="85" name="TextBox 84"/>
          <p:cNvSpPr txBox="1"/>
          <p:nvPr/>
        </p:nvSpPr>
        <p:spPr>
          <a:xfrm>
            <a:off x="502920" y="1417320"/>
            <a:ext cx="8183879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0B1F3A"/>
                </a:solidFill>
                <a:latin typeface="Calibri"/>
              </a:rPr>
              <a:t>Six views in the live prototype (government-grade dark theme):</a:t>
            </a:r>
          </a:p>
          <a:p>
            <a:pPr>
              <a:spcAft>
                <a:spcPts val="400"/>
              </a:spcAft>
            </a:pPr>
            <a:r>
              <a:rPr sz="1150" b="1">
                <a:solidFill>
                  <a:srgbClr val="0B1F3A"/>
                </a:solidFill>
                <a:latin typeface="Calibri"/>
              </a:rPr>
              <a:t>• Chat</a:t>
            </a:r>
            <a:r>
              <a:rPr sz="1150" b="0">
                <a:solidFill>
                  <a:srgbClr val="2B374B"/>
                </a:solidFill>
                <a:latin typeface="Calibri"/>
              </a:rPr>
              <a:t> — bilingual answer + evidence drawer (SQL, rows, case IDs) + voice input.</a:t>
            </a:r>
          </a:p>
          <a:p>
            <a:pPr>
              <a:spcAft>
                <a:spcPts val="400"/>
              </a:spcAft>
            </a:pPr>
            <a:r>
              <a:rPr sz="1150" b="1">
                <a:solidFill>
                  <a:srgbClr val="0B1F3A"/>
                </a:solidFill>
                <a:latin typeface="Calibri"/>
              </a:rPr>
              <a:t>• Lead Feed</a:t>
            </a:r>
            <a:r>
              <a:rPr sz="1150" b="0">
                <a:solidFill>
                  <a:srgbClr val="2B374B"/>
                </a:solidFill>
                <a:latin typeface="Calibri"/>
              </a:rPr>
              <a:t> — ranked Night-Patrol Lead Cards.</a:t>
            </a:r>
          </a:p>
          <a:p>
            <a:pPr>
              <a:spcAft>
                <a:spcPts val="400"/>
              </a:spcAft>
            </a:pPr>
            <a:r>
              <a:rPr sz="1150" b="1">
                <a:solidFill>
                  <a:srgbClr val="0B1F3A"/>
                </a:solidFill>
                <a:latin typeface="Calibri"/>
              </a:rPr>
              <a:t>• Series</a:t>
            </a:r>
            <a:r>
              <a:rPr sz="1150" b="0">
                <a:solidFill>
                  <a:srgbClr val="2B374B"/>
                </a:solidFill>
                <a:latin typeface="Calibri"/>
              </a:rPr>
              <a:t> — discovered serial-crime hypotheses with confidence + linked case IDs.</a:t>
            </a:r>
          </a:p>
          <a:p>
            <a:pPr>
              <a:spcAft>
                <a:spcPts val="400"/>
              </a:spcAft>
            </a:pPr>
            <a:r>
              <a:rPr sz="1150" b="1">
                <a:solidFill>
                  <a:srgbClr val="0B1F3A"/>
                </a:solidFill>
                <a:latin typeface="Calibri"/>
              </a:rPr>
              <a:t>• CrimeGraph</a:t>
            </a:r>
            <a:r>
              <a:rPr sz="1150" b="0">
                <a:solidFill>
                  <a:srgbClr val="2B374B"/>
                </a:solidFill>
                <a:latin typeface="Calibri"/>
              </a:rPr>
              <a:t> — interactive people/case network with community highlighting.</a:t>
            </a:r>
          </a:p>
          <a:p>
            <a:pPr>
              <a:spcAft>
                <a:spcPts val="400"/>
              </a:spcAft>
            </a:pPr>
            <a:r>
              <a:rPr sz="1150" b="1">
                <a:solidFill>
                  <a:srgbClr val="0B1F3A"/>
                </a:solidFill>
                <a:latin typeface="Calibri"/>
              </a:rPr>
              <a:t>• Investigation Room</a:t>
            </a:r>
            <a:r>
              <a:rPr sz="1150" b="0">
                <a:solidFill>
                  <a:srgbClr val="2B374B"/>
                </a:solidFill>
                <a:latin typeface="Calibri"/>
              </a:rPr>
              <a:t> — six agent cards stream live, then the assembled pack.</a:t>
            </a:r>
          </a:p>
          <a:p>
            <a:pPr>
              <a:spcAft>
                <a:spcPts val="400"/>
              </a:spcAft>
            </a:pPr>
            <a:r>
              <a:rPr sz="1150" b="1">
                <a:solidFill>
                  <a:srgbClr val="0B1F3A"/>
                </a:solidFill>
                <a:latin typeface="Calibri"/>
              </a:rPr>
              <a:t>• Audit</a:t>
            </a:r>
            <a:r>
              <a:rPr sz="1150" b="0">
                <a:solidFill>
                  <a:srgbClr val="2B374B"/>
                </a:solidFill>
                <a:latin typeface="Calibri"/>
              </a:rPr>
              <a:t> — every action logged (user, role, action, detail).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1D4ED8"/>
                </a:solidFill>
                <a:latin typeface="Calibri"/>
              </a:rPr>
              <a:t>Live: https://anveshak-api-50044329134.development.catalystappsail.in/ui/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Google Shape;89;p19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9"/>
          <p:cNvSpPr txBox="1"/>
          <p:nvPr/>
        </p:nvSpPr>
        <p:spPr>
          <a:xfrm>
            <a:off x="171050" y="867425"/>
            <a:ext cx="88209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/>
              <a:t>Architecture diagram of the proposed solution</a:t>
            </a:r>
            <a:endParaRPr b="1" sz="1800"/>
          </a:p>
        </p:txBody>
      </p:sp>
      <p:sp>
        <p:nvSpPr>
          <p:cNvPr id="91" name="TextBox 90"/>
          <p:cNvSpPr txBox="1"/>
          <p:nvPr/>
        </p:nvSpPr>
        <p:spPr>
          <a:xfrm>
            <a:off x="502920" y="1417320"/>
            <a:ext cx="8183879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100" b="0">
                <a:solidFill>
                  <a:srgbClr val="2B374B"/>
                </a:solidFill>
                <a:latin typeface="Calibri"/>
              </a:rPr>
              <a:t>Officer (EN/KN, voice+text)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2B374B"/>
                </a:solidFill>
                <a:latin typeface="Calibri"/>
              </a:rPr>
              <a:t>React SPA  (served on Catalyst)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2B374B"/>
                </a:solidFill>
                <a:latin typeface="Calibri"/>
              </a:rPr>
              <a:t>FastAPI backend on Catalyst AppSail  →  intent router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⤷  NL→SQL (guardrails + self-repair)   and   typed tools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(linkage · graph · forecast · hotspots · risk · similar)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2B374B"/>
                </a:solidFill>
                <a:latin typeface="Calibri"/>
              </a:rPr>
              <a:t>DuckDB analytical mirror  ⟷  Catalyst Data Store (system of record)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2B374B"/>
                </a:solidFill>
                <a:latin typeface="Calibri"/>
              </a:rPr>
              <a:t>LLM adapter  →  Catalyst QuickML  →  GLM-4.7-Flash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2B374B"/>
                </a:solidFill>
                <a:latin typeface="Calibri"/>
              </a:rPr>
              <a:t>6-agent Investigation Cell (SSE)  →  SmartBrowz  →  Pack PDF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2B374B"/>
                </a:solidFill>
                <a:latin typeface="Calibri"/>
              </a:rPr>
              <a:t>Cron  →  Night Patrol detectors  →  Lead Cards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0B1F3A"/>
                </a:solidFill>
                <a:latin typeface="Calibri"/>
              </a:rPr>
              <a:t>Deterministic tools, LLM narrates (ADR-2). </a:t>
            </a:r>
            <a:r>
              <a:rPr sz="1050" b="0">
                <a:solidFill>
                  <a:srgbClr val="2B374B"/>
                </a:solidFill>
                <a:latin typeface="Calibri"/>
              </a:rPr>
              <a:t>No external inference API is ever called from the deployed app (ADR-4).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Google Shape;95;p20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20"/>
          <p:cNvSpPr txBox="1"/>
          <p:nvPr/>
        </p:nvSpPr>
        <p:spPr>
          <a:xfrm>
            <a:off x="158825" y="855225"/>
            <a:ext cx="8784300" cy="45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/>
              <a:t>Technologies to be used in the solution</a:t>
            </a:r>
            <a:endParaRPr b="1" sz="1800"/>
          </a:p>
        </p:txBody>
      </p:sp>
      <p:sp>
        <p:nvSpPr>
          <p:cNvPr id="97" name="TextBox 96"/>
          <p:cNvSpPr txBox="1"/>
          <p:nvPr/>
        </p:nvSpPr>
        <p:spPr>
          <a:xfrm>
            <a:off x="502920" y="1417320"/>
            <a:ext cx="8183879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50" b="1">
                <a:solidFill>
                  <a:srgbClr val="0B1F3A"/>
                </a:solidFill>
                <a:latin typeface="Calibri"/>
              </a:rPr>
              <a:t>Backend:  </a:t>
            </a:r>
            <a:r>
              <a:rPr sz="1150" b="0">
                <a:solidFill>
                  <a:srgbClr val="2B374B"/>
                </a:solidFill>
                <a:latin typeface="Calibri"/>
              </a:rPr>
              <a:t>Python 3.12, FastAPI, DuckDB, sqlglot, sentence-transformers (paraphrase-multilingual-MiniLM-L12-v2), scikit-learn / HDBSCAN, NetworkX + Louvain, statsmodels SARIMA, sse-starlette.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0B1F3A"/>
                </a:solidFill>
                <a:latin typeface="Calibri"/>
              </a:rPr>
              <a:t>Frontend:  </a:t>
            </a:r>
            <a:r>
              <a:rPr sz="1150" b="0">
                <a:solidFill>
                  <a:srgbClr val="2B374B"/>
                </a:solidFill>
                <a:latin typeface="Calibri"/>
              </a:rPr>
              <a:t>React 18, Vite, Tailwind CSS, ECharts (charts + network graph), Leaflet + OpenStreetMap, Web Speech API (kn-IN voice).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0B1F3A"/>
                </a:solidFill>
                <a:latin typeface="Calibri"/>
              </a:rPr>
              <a:t>LLM:  </a:t>
            </a:r>
            <a:r>
              <a:rPr sz="1150" b="0">
                <a:solidFill>
                  <a:srgbClr val="2B374B"/>
                </a:solidFill>
                <a:latin typeface="Calibri"/>
              </a:rPr>
              <a:t>GLM-4.7-Flash served via Catalyst QuickML LLM Serving.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0B1F3A"/>
                </a:solidFill>
                <a:latin typeface="Calibri"/>
              </a:rPr>
              <a:t>Packaging:  </a:t>
            </a:r>
            <a:r>
              <a:rPr sz="1150" b="0">
                <a:solidFill>
                  <a:srgbClr val="2B374B"/>
                </a:solidFill>
                <a:latin typeface="Calibri"/>
              </a:rPr>
              <a:t>Docker (custom AppSail runtime — bakes the scientific stack).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0B1F3A"/>
                </a:solidFill>
                <a:latin typeface="Calibri"/>
              </a:rPr>
              <a:t>Quality:  </a:t>
            </a:r>
            <a:r>
              <a:rPr sz="1150" b="0">
                <a:solidFill>
                  <a:srgbClr val="2B374B"/>
                </a:solidFill>
                <a:latin typeface="Calibri"/>
              </a:rPr>
              <a:t>pytest suite (46 tests), bilingual eval harness (60 questions), public linkage ground truth.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Google Shape;101;p21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21"/>
          <p:cNvSpPr txBox="1"/>
          <p:nvPr/>
        </p:nvSpPr>
        <p:spPr>
          <a:xfrm>
            <a:off x="158825" y="855225"/>
            <a:ext cx="8784300" cy="45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/>
              <a:t>List down Catalyst Services being used in the solution</a:t>
            </a:r>
            <a:endParaRPr b="1" sz="1800"/>
          </a:p>
        </p:txBody>
      </p:sp>
      <p:sp>
        <p:nvSpPr>
          <p:cNvPr id="103" name="TextBox 102"/>
          <p:cNvSpPr txBox="1"/>
          <p:nvPr/>
        </p:nvSpPr>
        <p:spPr>
          <a:xfrm>
            <a:off x="502920" y="1417320"/>
            <a:ext cx="8183879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50" b="1">
                <a:solidFill>
                  <a:srgbClr val="047855"/>
                </a:solidFill>
                <a:latin typeface="Calibri"/>
              </a:rPr>
              <a:t>Live now:  </a:t>
            </a:r>
            <a:r>
              <a:rPr sz="1150" b="0">
                <a:solidFill>
                  <a:srgbClr val="2B374B"/>
                </a:solidFill>
                <a:latin typeface="Calibri"/>
              </a:rPr>
              <a:t>AppSail (FastAPI, custom Docker runtime)  ·  QuickML LLM Serving (GLM-4.7-Flash)  ·  Web Client Hosting  ·  Authentication  ·  API Gateway.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1D4ED8"/>
                </a:solidFill>
                <a:latin typeface="Calibri"/>
              </a:rPr>
              <a:t>In the architecture / provisioned:  </a:t>
            </a:r>
            <a:r>
              <a:rPr sz="1150" b="0">
                <a:solidFill>
                  <a:srgbClr val="2B374B"/>
                </a:solidFill>
                <a:latin typeface="Calibri"/>
              </a:rPr>
              <a:t>Data Store (system of record)  ·  NoSQL (graph snapshots)  ·  SmartBrowz (pack PDF)  ·  Cron (Night Patrol)  ·  Signals + Mail (lead digests)  ·  Cache  ·  Stratus (pack storage).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B1F3A"/>
                </a:solidFill>
                <a:latin typeface="Calibri"/>
              </a:rPr>
              <a:t>Deployment is exclusively on Zoho Catalyst, per the competition mandate.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Google Shape;107;p22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2"/>
          <p:cNvSpPr txBox="1"/>
          <p:nvPr/>
        </p:nvSpPr>
        <p:spPr>
          <a:xfrm>
            <a:off x="158825" y="818550"/>
            <a:ext cx="8845200" cy="63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/>
              <a:t>Estimated implementation cost (optional)</a:t>
            </a:r>
            <a:endParaRPr b="1" sz="1800"/>
          </a:p>
        </p:txBody>
      </p:sp>
      <p:sp>
        <p:nvSpPr>
          <p:cNvPr id="109" name="TextBox 108"/>
          <p:cNvSpPr txBox="1"/>
          <p:nvPr/>
        </p:nvSpPr>
        <p:spPr>
          <a:xfrm>
            <a:off x="502920" y="1417320"/>
            <a:ext cx="8183879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0B1F3A"/>
                </a:solidFill>
                <a:latin typeface="Calibri"/>
              </a:rPr>
              <a:t>The prototype runs within the Catalyst development tier.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B374B"/>
                </a:solidFill>
                <a:latin typeface="Calibri"/>
              </a:rPr>
              <a:t>• AppSail: 1 GB memory, single instance (custom Docker runtime).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B374B"/>
                </a:solidFill>
                <a:latin typeface="Calibri"/>
              </a:rPr>
              <a:t>• QuickML: GLM-4.7-Flash is a Zoho-hosted shared model — no per-model deployment cost; billed per token at production scale.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B374B"/>
                </a:solidFill>
                <a:latin typeface="Calibri"/>
              </a:rPr>
              <a:t>• Web Client Hosting + Data Store + Cron: serverless, usage-based.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B374B"/>
                </a:solidFill>
                <a:latin typeface="Calibri"/>
              </a:rPr>
              <a:t>• Embeddings are precomputed at data-generation time, so runtime needs no GPU / heavy inference for search.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3" name="Google Shape;113;p23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23"/>
          <p:cNvSpPr txBox="1"/>
          <p:nvPr/>
        </p:nvSpPr>
        <p:spPr>
          <a:xfrm>
            <a:off x="219900" y="855225"/>
            <a:ext cx="87231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/>
              <a:t>Snapshots of the prototype</a:t>
            </a:r>
            <a:endParaRPr b="1" sz="1800"/>
          </a:p>
        </p:txBody>
      </p:sp>
      <p:pic>
        <p:nvPicPr>
          <p:cNvPr id="115" name="Picture 114" descr="01_leadfe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1353312"/>
            <a:ext cx="2724912" cy="1532763"/>
          </a:xfrm>
          <a:prstGeom prst="rect">
            <a:avLst/>
          </a:prstGeom>
        </p:spPr>
      </p:pic>
      <p:sp>
        <p:nvSpPr>
          <p:cNvPr id="116" name="TextBox 115"/>
          <p:cNvSpPr txBox="1"/>
          <p:nvPr/>
        </p:nvSpPr>
        <p:spPr>
          <a:xfrm>
            <a:off x="320040" y="2895219"/>
            <a:ext cx="2724912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>
                <a:solidFill>
                  <a:srgbClr val="2B374B"/>
                </a:solidFill>
                <a:latin typeface="Calibri"/>
              </a:rPr>
              <a:t>Night Patrol — proactive leads</a:t>
            </a:r>
          </a:p>
        </p:txBody>
      </p:sp>
      <p:pic>
        <p:nvPicPr>
          <p:cNvPr id="117" name="Picture 116" descr="02_chat_eviden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9544" y="1353312"/>
            <a:ext cx="2724912" cy="1532763"/>
          </a:xfrm>
          <a:prstGeom prst="rect">
            <a:avLst/>
          </a:prstGeom>
        </p:spPr>
      </p:pic>
      <p:sp>
        <p:nvSpPr>
          <p:cNvPr id="118" name="TextBox 117"/>
          <p:cNvSpPr txBox="1"/>
          <p:nvPr/>
        </p:nvSpPr>
        <p:spPr>
          <a:xfrm>
            <a:off x="3209544" y="2895219"/>
            <a:ext cx="2724912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>
                <a:solidFill>
                  <a:srgbClr val="2B374B"/>
                </a:solidFill>
                <a:latin typeface="Calibri"/>
              </a:rPr>
              <a:t>Chat — answer + evidence (SQL)</a:t>
            </a:r>
          </a:p>
        </p:txBody>
      </p:sp>
      <p:pic>
        <p:nvPicPr>
          <p:cNvPr id="119" name="Picture 118" descr="03_seri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9048" y="1353312"/>
            <a:ext cx="2724912" cy="1532763"/>
          </a:xfrm>
          <a:prstGeom prst="rect">
            <a:avLst/>
          </a:prstGeom>
        </p:spPr>
      </p:pic>
      <p:sp>
        <p:nvSpPr>
          <p:cNvPr id="120" name="TextBox 119"/>
          <p:cNvSpPr txBox="1"/>
          <p:nvPr/>
        </p:nvSpPr>
        <p:spPr>
          <a:xfrm>
            <a:off x="6099048" y="2895219"/>
            <a:ext cx="2724912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>
                <a:solidFill>
                  <a:srgbClr val="2B374B"/>
                </a:solidFill>
                <a:latin typeface="Calibri"/>
              </a:rPr>
              <a:t>Serial linkage — SH-07</a:t>
            </a:r>
          </a:p>
        </p:txBody>
      </p:sp>
      <p:pic>
        <p:nvPicPr>
          <p:cNvPr id="121" name="Picture 120" descr="04_pac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0040" y="3270123"/>
            <a:ext cx="2724912" cy="1532763"/>
          </a:xfrm>
          <a:prstGeom prst="rect">
            <a:avLst/>
          </a:prstGeom>
        </p:spPr>
      </p:pic>
      <p:sp>
        <p:nvSpPr>
          <p:cNvPr id="122" name="TextBox 121"/>
          <p:cNvSpPr txBox="1"/>
          <p:nvPr/>
        </p:nvSpPr>
        <p:spPr>
          <a:xfrm>
            <a:off x="320040" y="4812030"/>
            <a:ext cx="2724912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>
                <a:solidFill>
                  <a:srgbClr val="2B374B"/>
                </a:solidFill>
                <a:latin typeface="Calibri"/>
              </a:rPr>
              <a:t>Investigation Pack — 6 agents</a:t>
            </a:r>
          </a:p>
        </p:txBody>
      </p:sp>
      <p:pic>
        <p:nvPicPr>
          <p:cNvPr id="123" name="Picture 122" descr="05_grap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09544" y="3270123"/>
            <a:ext cx="2724912" cy="1532763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3209544" y="4812030"/>
            <a:ext cx="2724912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>
                <a:solidFill>
                  <a:srgbClr val="2B374B"/>
                </a:solidFill>
                <a:latin typeface="Calibri"/>
              </a:rPr>
              <a:t>CrimeGraph — fraud hub</a:t>
            </a:r>
          </a:p>
        </p:txBody>
      </p:sp>
      <p:pic>
        <p:nvPicPr>
          <p:cNvPr id="125" name="Picture 124" descr="06_kannad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9048" y="3270123"/>
            <a:ext cx="2724912" cy="1532763"/>
          </a:xfrm>
          <a:prstGeom prst="rect">
            <a:avLst/>
          </a:prstGeom>
        </p:spPr>
      </p:pic>
      <p:sp>
        <p:nvSpPr>
          <p:cNvPr id="126" name="TextBox 125"/>
          <p:cNvSpPr txBox="1"/>
          <p:nvPr/>
        </p:nvSpPr>
        <p:spPr>
          <a:xfrm>
            <a:off x="6099048" y="4812030"/>
            <a:ext cx="2724912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>
                <a:solidFill>
                  <a:srgbClr val="2B374B"/>
                </a:solidFill>
                <a:latin typeface="Calibri"/>
              </a:rPr>
              <a:t>Bilingual — ಕನ್ನಡ + English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Google Shape;119;p24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24"/>
          <p:cNvSpPr txBox="1"/>
          <p:nvPr/>
        </p:nvSpPr>
        <p:spPr>
          <a:xfrm>
            <a:off x="158825" y="806350"/>
            <a:ext cx="8796600" cy="486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/>
              <a:t>Prototype Performance report/Benchmarking</a:t>
            </a:r>
            <a:endParaRPr b="1" sz="1800"/>
          </a:p>
        </p:txBody>
      </p:sp>
      <p:sp>
        <p:nvSpPr>
          <p:cNvPr id="121" name="TextBox 120"/>
          <p:cNvSpPr txBox="1"/>
          <p:nvPr/>
        </p:nvSpPr>
        <p:spPr>
          <a:xfrm>
            <a:off x="502920" y="1417320"/>
            <a:ext cx="8183879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 b="1">
                <a:solidFill>
                  <a:srgbClr val="0B1F3A"/>
                </a:solidFill>
                <a:latin typeface="Calibri"/>
              </a:rPr>
              <a:t>Dataset:  </a:t>
            </a:r>
            <a:r>
              <a:rPr sz="1100" b="0">
                <a:solidFill>
                  <a:srgbClr val="2B374B"/>
                </a:solidFill>
                <a:latin typeface="Calibri"/>
              </a:rPr>
              <a:t>15,405 FIRs · 31 districts · 248 stations · 2023–2026 (synthetic, seed 42).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0B1F3A"/>
                </a:solidFill>
                <a:latin typeface="Calibri"/>
              </a:rPr>
              <a:t>NL→SQL accuracy:  </a:t>
            </a:r>
            <a:r>
              <a:rPr sz="1100" b="0">
                <a:solidFill>
                  <a:srgbClr val="2B374B"/>
                </a:solidFill>
                <a:latin typeface="Calibri"/>
              </a:rPr>
              <a:t>76.7% overall (EN 82.2%, KN 60.0%) on the local 7B dev model; gold-vs-gold 100%. Production GLM-4.7-Flash is expected higher.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0B1F3A"/>
                </a:solidFill>
                <a:latin typeface="Calibri"/>
              </a:rPr>
              <a:t>Serial linkage (SH-07):  </a:t>
            </a:r>
            <a:r>
              <a:rPr sz="1100" b="0">
                <a:solidFill>
                  <a:srgbClr val="2B374B"/>
                </a:solidFill>
                <a:latin typeface="Calibri"/>
              </a:rPr>
              <a:t>precision 0.86 · recall 12/14; the disjoint SP-2 series correctly not merged.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0B1F3A"/>
                </a:solidFill>
                <a:latin typeface="Calibri"/>
              </a:rPr>
              <a:t>Forecast (burglary):  </a:t>
            </a:r>
            <a:r>
              <a:rPr sz="1100" b="0">
                <a:solidFill>
                  <a:srgbClr val="2B374B"/>
                </a:solidFill>
                <a:latin typeface="Calibri"/>
              </a:rPr>
              <a:t>backtest MAE 1.83 vs seasonal-naive 1.75 — competitive and honestly reported.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0B1F3A"/>
                </a:solidFill>
                <a:latin typeface="Calibri"/>
              </a:rPr>
              <a:t>Repeat-offender risk:  </a:t>
            </a:r>
            <a:r>
              <a:rPr sz="1100" b="0">
                <a:solidFill>
                  <a:srgbClr val="2B374B"/>
                </a:solidFill>
                <a:latin typeface="Calibri"/>
              </a:rPr>
              <a:t>Suresh B scores 0.83 (recency / frequency / gravity / centrality).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0B1F3A"/>
                </a:solidFill>
                <a:latin typeface="Calibri"/>
              </a:rPr>
              <a:t>Night Patrol:  </a:t>
            </a:r>
            <a:r>
              <a:rPr sz="1100" b="0">
                <a:solidFill>
                  <a:srgbClr val="2B374B"/>
                </a:solidFill>
                <a:latin typeface="Calibri"/>
              </a:rPr>
              <a:t>Whitefield spike + repeat-offender cluster fire on the planted anomalies.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0B1F3A"/>
                </a:solidFill>
                <a:latin typeface="Calibri"/>
              </a:rPr>
              <a:t>Robustness:  </a:t>
            </a:r>
            <a:r>
              <a:rPr sz="1100" b="0">
                <a:solidFill>
                  <a:srgbClr val="2B374B"/>
                </a:solidFill>
                <a:latin typeface="Calibri"/>
              </a:rPr>
              <a:t>thread-safe analytical layer — 60 concurrent requests, 0 errors; caches pre-warmed at startup.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Linkage ground truth is public (data_engine/planted/*.yaml) — numbers are independently verifiable.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" name="Google Shape;125;p25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5"/>
          <p:cNvSpPr txBox="1"/>
          <p:nvPr/>
        </p:nvSpPr>
        <p:spPr>
          <a:xfrm>
            <a:off x="146600" y="843000"/>
            <a:ext cx="8833200" cy="63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/>
              <a:t>Provide links to your:</a:t>
            </a:r>
            <a:endParaRPr b="1" sz="1800"/>
          </a:p>
        </p:txBody>
      </p:sp>
      <p:sp>
        <p:nvSpPr>
          <p:cNvPr id="127" name="TextBox 126"/>
          <p:cNvSpPr txBox="1"/>
          <p:nvPr/>
        </p:nvSpPr>
        <p:spPr>
          <a:xfrm>
            <a:off x="502920" y="1417320"/>
            <a:ext cx="8183879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GitHub (public):  </a:t>
            </a:r>
            <a:r>
              <a:rPr sz="1300" b="0">
                <a:solidFill>
                  <a:srgbClr val="1D4ED8"/>
                </a:solidFill>
                <a:latin typeface="Calibri"/>
              </a:rPr>
              <a:t>https://github.com/arungeekay/anveshak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Deployed link (Catalyst):  </a:t>
            </a:r>
            <a:r>
              <a:rPr sz="1300" b="0">
                <a:solidFill>
                  <a:srgbClr val="1D4ED8"/>
                </a:solidFill>
                <a:latin typeface="Calibri"/>
              </a:rPr>
              <a:t>https://anveshak-api-50044329134.development.catalystappsail.in/ui/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Demo video (3 min):  </a:t>
            </a:r>
            <a:r>
              <a:rPr sz="1300" b="0">
                <a:solidFill>
                  <a:srgbClr val="64748B"/>
                </a:solidFill>
                <a:latin typeface="Calibri"/>
              </a:rPr>
              <a:t>(add your public YouTube / Drive link)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API base: https://anveshak-api-50044329134.development.catalystappsail.in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26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26"/>
          <p:cNvSpPr txBox="1"/>
          <p:nvPr/>
        </p:nvSpPr>
        <p:spPr>
          <a:xfrm>
            <a:off x="109950" y="781900"/>
            <a:ext cx="8894100" cy="69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/>
              <a:t>Additional Details/Future Development (if any)</a:t>
            </a:r>
            <a:endParaRPr b="1" sz="1800"/>
          </a:p>
        </p:txBody>
      </p:sp>
      <p:sp>
        <p:nvSpPr>
          <p:cNvPr id="133" name="TextBox 132"/>
          <p:cNvSpPr txBox="1"/>
          <p:nvPr/>
        </p:nvSpPr>
        <p:spPr>
          <a:xfrm>
            <a:off x="502920" y="1417320"/>
            <a:ext cx="8183879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0B1F3A"/>
                </a:solidFill>
                <a:latin typeface="Calibri"/>
              </a:rPr>
              <a:t>Roadmap to production: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B374B"/>
                </a:solidFill>
                <a:latin typeface="Calibri"/>
              </a:rPr>
              <a:t>• RBAC server-side scope injection (designed, ADR-8) → full enforcement via Catalyst Auth.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B374B"/>
                </a:solidFill>
                <a:latin typeface="Calibri"/>
              </a:rPr>
              <a:t>• Live Data Store loader + FIR-intake write-back; NoSQL graph persistence.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B374B"/>
                </a:solidFill>
                <a:latin typeface="Calibri"/>
              </a:rPr>
              <a:t>• SmartBrowz pack PDF, Cron schedule, and Signals / Mail digests fully wired end-to-end.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B374B"/>
                </a:solidFill>
                <a:latin typeface="Calibri"/>
              </a:rPr>
              <a:t>• Real CCTNS identity resolution (name / parentage / DOB) replacing the synthetic person_key.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B374B"/>
                </a:solidFill>
                <a:latin typeface="Calibri"/>
              </a:rPr>
              <a:t>• Kannada NL→SQL tuning (hand-curated few-shots) to lift KN accuracy toward the EN level.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B374B"/>
                </a:solidFill>
                <a:latin typeface="Calibri"/>
              </a:rPr>
              <a:t>• Human-in-the-loop feedback on linkage / leads to continuously improve precision.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Google Shape;137;p27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7"/>
          <p:cNvSpPr txBox="1"/>
          <p:nvPr/>
        </p:nvSpPr>
        <p:spPr>
          <a:xfrm>
            <a:off x="146600" y="2249200"/>
            <a:ext cx="8833200" cy="146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/>
              <a:t>Blank slide</a:t>
            </a:r>
            <a:endParaRPr b="1" sz="18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Google Shape;143;p28" title="Framwdwdwde 1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