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2" r:id="rId12"/>
    <p:sldId id="267" r:id="rId17"/>
    <p:sldId id="268" r:id="rId18"/>
    <p:sldId id="269" r:id="rId19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9e9db54d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9e9db54d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9e9db54d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9e9db54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9e9db54d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9e9db54d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9e9db54d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9e9db54d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9e9db54d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9e9db54d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9e9db54d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9e9db54d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9e9db54d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9e9db54d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fd15ea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3fd15ea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9e9db54d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9e9db54d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9e9db54d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79e9db54d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9e9db54d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9e9db54d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9e9db54d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9e9db54d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9e9db54d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9e9db54d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9e9db54d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9e9db54d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9e9db54d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9e9db54d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0650" y="3183225"/>
            <a:ext cx="8222700" cy="17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00"/>
              </a:spcAft>
              <a:buNone/>
            </a:pPr>
            <a:r>
              <a:rPr sz="2200" b="1">
                <a:solidFill>
                  <a:srgbClr val="0B1F3A"/>
                </a:solidFill>
                <a:latin typeface="Calibri"/>
              </a:rPr>
              <a:t>ANVESHAK · ಅನ್ವೇಷಕ</a:t>
            </a:r>
            <a:endParaRPr b="1" sz="1500"/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B374B"/>
                </a:solidFill>
                <a:latin typeface="Calibri"/>
              </a:rPr>
              <a:t>An AI that doesn't just answer questions — it works cases.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Team Zen — Hiran Vikraman S R · Arun G K   |   Challenge 1</a:t>
            </a:r>
          </a:p>
          <a:p>
            <a:pPr>
              <a:spcAft>
                <a:spcPts val="700"/>
              </a:spcAft>
            </a:pPr>
            <a:r>
              <a:rPr sz="1100" b="0">
                <a:solidFill>
                  <a:srgbClr val="1D4ED8"/>
                </a:solidFill>
                <a:latin typeface="Calibri"/>
              </a:rPr>
              <a:t>Live: https://anveshak-api-50044329134.development.catalystappsail.in/ui/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8650" y="6979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2400">
                <a:solidFill>
                  <a:srgbClr val="0B1F3A"/>
                </a:solidFill>
              </a:rPr>
              <a:t>One night in Jayanagar</a:t>
            </a:r>
            <a:endParaRPr b="1" sz="1600"/>
          </a:p>
        </p:txBody>
      </p:sp>
      <p:sp>
        <p:nvSpPr>
          <p:cNvPr id="61" name="TextBox 60"/>
          <p:cNvSpPr txBox="1"/>
          <p:nvPr/>
        </p:nvSpPr>
        <p:spPr>
          <a:xfrm>
            <a:off x="502920" y="1417320"/>
            <a:ext cx="8183879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 woman's gold chain is snatched by two men on a motorcycle. The FIR is filed at Jayanagar station.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2B374B"/>
                </a:solidFill>
                <a:latin typeface="Calibri"/>
              </a:rPr>
              <a:t>• The same men struck in Mandya last month, and Tumakuru before that.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2B374B"/>
                </a:solidFill>
                <a:latin typeface="Calibri"/>
              </a:rPr>
              <a:t>• Nobody knows. The records sit in three district silos, and no one has time to read 15,000 narratives looking for a pattern.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2B374B"/>
                </a:solidFill>
                <a:latin typeface="Calibri"/>
              </a:rPr>
              <a:t>• To even ask 'how many chain snatchings this year?', an officer needs someone who writes SQL — and English.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This is the gap ANVESHAK closes.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0800" y="7106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400">
                <a:solidFill>
                  <a:srgbClr val="0B1F3A"/>
                </a:solidFill>
              </a:rPr>
              <a:t>Ask. Then let it work the case.</a:t>
            </a:r>
            <a:endParaRPr b="1" sz="1600">
              <a:solidFill>
                <a:srgbClr val="000000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02920" y="1417320"/>
            <a:ext cx="8183879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• Ask in Kannada or English</a:t>
            </a:r>
            <a:r>
              <a:rPr sz="1300" b="0">
                <a:solidFill>
                  <a:srgbClr val="2B374B"/>
                </a:solidFill>
                <a:latin typeface="Calibri"/>
              </a:rPr>
              <a:t> — voice or text, and every answer arrives with its SQL, its rows and its case IDs.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• Find the ring</a:t>
            </a:r>
            <a:r>
              <a:rPr sz="1300" b="0">
                <a:solidFill>
                  <a:srgbClr val="2B374B"/>
                </a:solidFill>
                <a:latin typeface="Calibri"/>
              </a:rPr>
              <a:t> — MO fingerprinting links crimes across district boundaries that siloed records never connect.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• Work the case</a:t>
            </a:r>
            <a:r>
              <a:rPr sz="1300" b="0">
                <a:solidFill>
                  <a:srgbClr val="2B374B"/>
                </a:solidFill>
                <a:latin typeface="Calibri"/>
              </a:rPr>
              <a:t> — six specialist agents assemble a court-ready Investigation Pack in about ten seconds.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• Patrol tonight</a:t>
            </a:r>
            <a:r>
              <a:rPr sz="1300" b="0">
                <a:solidFill>
                  <a:srgbClr val="2B374B"/>
                </a:solidFill>
                <a:latin typeface="Calibri"/>
              </a:rPr>
              <a:t> — an overnight sweep raises ranked leads and turns them into a deployment plan.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• Prove it</a:t>
            </a:r>
            <a:r>
              <a:rPr sz="1300" b="0">
                <a:solidFill>
                  <a:srgbClr val="2B374B"/>
                </a:solidFill>
                <a:latin typeface="Calibri"/>
              </a:rPr>
              <a:t> — role-scoped access, a tamper-evident audit log, and guardrails you are welcome to attack.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2400">
                <a:solidFill>
                  <a:srgbClr val="0B1F3A"/>
                </a:solidFill>
              </a:rPr>
              <a:t>Live demo</a:t>
            </a:r>
            <a:endParaRPr b="1" sz="1800"/>
          </a:p>
        </p:txBody>
      </p:sp>
      <p:sp>
        <p:nvSpPr>
          <p:cNvPr id="73" name="TextBox 72"/>
          <p:cNvSpPr txBox="1"/>
          <p:nvPr/>
        </p:nvSpPr>
        <p:spPr>
          <a:xfrm>
            <a:off x="502920" y="1417320"/>
            <a:ext cx="8183879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From the FIR a constable files, to the pack an IO takes to court.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B374B"/>
                </a:solidFill>
                <a:latin typeface="Calibri"/>
              </a:rPr>
              <a:t>• The overnight sweep — and the morning briefing, in Kannada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B374B"/>
                </a:solidFill>
                <a:latin typeface="Calibri"/>
              </a:rPr>
              <a:t>• A question, answered with its evidence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B374B"/>
                </a:solidFill>
                <a:latin typeface="Calibri"/>
              </a:rPr>
              <a:t>• Try to break it: injection, exfiltration, profiling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B374B"/>
                </a:solidFill>
                <a:latin typeface="Calibri"/>
              </a:rPr>
              <a:t>• File a new FIR — in your own words — and watch it join the series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B374B"/>
                </a:solidFill>
                <a:latin typeface="Calibri"/>
              </a:rPr>
              <a:t>• Replay the ring crossing three districts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B374B"/>
                </a:solidFill>
                <a:latin typeface="Calibri"/>
              </a:rPr>
              <a:t>• Six agents work the case → the pack → the suspect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B374B"/>
                </a:solidFill>
                <a:latin typeface="Calibri"/>
              </a:rPr>
              <a:t>• Tonight's patrol plan · the same question as SHO, and as Analyst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Process flow diagram or Use-case diagram</a:t>
            </a:r>
            <a:endParaRPr b="1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Wireframes/Mock diagrams of the proposed solution (optional)</a:t>
            </a:r>
            <a:endParaRPr b="1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2400">
                <a:solidFill>
                  <a:srgbClr val="0B1F3A"/>
                </a:solidFill>
              </a:rPr>
              <a:t>What it would have changed</a:t>
            </a:r>
            <a:endParaRPr b="1" sz="1800"/>
          </a:p>
        </p:txBody>
      </p:sp>
      <p:sp>
        <p:nvSpPr>
          <p:cNvPr id="91" name="TextBox 90"/>
          <p:cNvSpPr txBox="1"/>
          <p:nvPr/>
        </p:nvSpPr>
        <p:spPr>
          <a:xfrm>
            <a:off x="502920" y="1417320"/>
            <a:ext cx="8183879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SH-07 · Operation Gold Chain Black Visor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ANVESHAK flags this ring at case #6, on 10 February 2026.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B45309"/>
                </a:solidFill>
                <a:latin typeface="Calibri"/>
              </a:rPr>
              <a:t>Nine further chain snatchings</a:t>
            </a:r>
            <a:r>
              <a:rPr sz="1400" b="0">
                <a:solidFill>
                  <a:srgbClr val="2B374B"/>
                </a:solidFill>
                <a:latin typeface="Calibri"/>
              </a:rPr>
              <a:t> across Bengaluru City, Mandya and Tumakuru followed over the next </a:t>
            </a:r>
            <a:r>
              <a:rPr sz="1400" b="1">
                <a:solidFill>
                  <a:srgbClr val="B45309"/>
                </a:solidFill>
                <a:latin typeface="Calibri"/>
              </a:rPr>
              <a:t>142 days</a:t>
            </a:r>
            <a:r>
              <a:rPr sz="1400" b="0">
                <a:solidFill>
                  <a:srgbClr val="2B374B"/>
                </a:solidFill>
                <a:latin typeface="Calibri"/>
              </a:rPr>
              <a:t> — after the pattern was already visible.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Computed by replaying our own linkage engine over the corpus truncated at each of the series' case dates. A retrospective replay on synthetic data — not a prediction, and not a claim about a real case.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Technologies to be used in the solution</a:t>
            </a:r>
            <a:endParaRPr b="1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List down Catalyst Services being used in the solution</a:t>
            </a:r>
            <a:endParaRPr b="1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Estimated implementation cost (optional)</a:t>
            </a:r>
            <a:endParaRPr b="1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Snapshots of the prototype</a:t>
            </a:r>
            <a:endParaRPr b="1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/>
          <p:nvPr/>
        </p:nvSpPr>
        <p:spPr>
          <a:xfrm>
            <a:off x="158825" y="806350"/>
            <a:ext cx="87966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2400">
                <a:solidFill>
                  <a:srgbClr val="0B1F3A"/>
                </a:solidFill>
              </a:rPr>
              <a:t>Built to be checked, not believed</a:t>
            </a:r>
            <a:endParaRPr b="1" sz="1800"/>
          </a:p>
        </p:txBody>
      </p:sp>
      <p:sp>
        <p:nvSpPr>
          <p:cNvPr id="121" name="TextBox 120"/>
          <p:cNvSpPr txBox="1"/>
          <p:nvPr/>
        </p:nvSpPr>
        <p:spPr>
          <a:xfrm>
            <a:off x="502920" y="1417320"/>
            <a:ext cx="8183879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The model never computes a number</a:t>
            </a:r>
            <a:r>
              <a:rPr sz="1200" b="0">
                <a:solidFill>
                  <a:srgbClr val="2B374B"/>
                </a:solidFill>
                <a:latin typeface="Calibri"/>
              </a:rPr>
              <a:t> — deterministic tools do; the model only narrates. Every figure traces to a tool result and a case ID.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Attack it yourself</a:t>
            </a:r>
            <a:r>
              <a:rPr sz="1200" b="0">
                <a:solidFill>
                  <a:srgbClr val="2B374B"/>
                </a:solidFill>
                <a:latin typeface="Calibri"/>
              </a:rPr>
              <a:t> — a red-team console in the product. 10 of 10 attack vectors blocked, re-tested on every page load.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Religion and caste are never model features</a:t>
            </a:r>
            <a:r>
              <a:rPr sz="1200" b="0">
                <a:solidFill>
                  <a:srgbClr val="2B374B"/>
                </a:solidFill>
                <a:latin typeface="Calibri"/>
              </a:rPr>
              <a:t> — a profiling question is refused, in English and Kannada, and the refusal is logged.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Scope is enforced in the query</a:t>
            </a:r>
            <a:r>
              <a:rPr sz="1200" b="0">
                <a:solidFill>
                  <a:srgbClr val="2B374B"/>
                </a:solidFill>
                <a:latin typeface="Calibri"/>
              </a:rPr>
              <a:t> — SHO sees a station, SP a district, Analyst sees masked names. Not hidden in the browser.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History cannot be rewritten</a:t>
            </a:r>
            <a:r>
              <a:rPr sz="1200" b="0">
                <a:solidFill>
                  <a:srgbClr val="2B374B"/>
                </a:solidFill>
                <a:latin typeface="Calibri"/>
              </a:rPr>
              <a:t> — the audit log is hash-chained; press 'Verify chain' and watch it recompute.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Our ground truth is public</a:t>
            </a:r>
            <a:r>
              <a:rPr sz="1200" b="0">
                <a:solidFill>
                  <a:srgbClr val="2B374B"/>
                </a:solidFill>
                <a:latin typeface="Calibri"/>
              </a:rPr>
              <a:t> — linkage precision 0.86, recall 12/14, checkable against the planted data in the repository.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2400">
                <a:solidFill>
                  <a:srgbClr val="0B1F3A"/>
                </a:solidFill>
              </a:rPr>
              <a:t>Runs entirely on Zoho Catalyst</a:t>
            </a:r>
            <a:endParaRPr b="1" sz="1800"/>
          </a:p>
        </p:txBody>
      </p:sp>
      <p:sp>
        <p:nvSpPr>
          <p:cNvPr id="127" name="TextBox 126"/>
          <p:cNvSpPr txBox="1"/>
          <p:nvPr/>
        </p:nvSpPr>
        <p:spPr>
          <a:xfrm>
            <a:off x="502920" y="1417320"/>
            <a:ext cx="8183879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Officer (EN/KN, voice or text) → React SPA → FastAPI on AppSail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374B"/>
                </a:solidFill>
                <a:latin typeface="Calibri"/>
              </a:rPr>
              <a:t>intent router → NL→SQL (guardrails · ADR-9 policy · role scope · self-repair)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374B"/>
                </a:solidFill>
                <a:latin typeface="Calibri"/>
              </a:rPr>
              <a:t>            → typed tools: linkage · graph · forecast · hotspots · risk · similar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374B"/>
                </a:solidFill>
                <a:latin typeface="Calibri"/>
              </a:rPr>
              <a:t>DuckDB analytical mirror ⟷ Catalyst Data Store (system of record)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374B"/>
                </a:solidFill>
                <a:latin typeface="Calibri"/>
              </a:rPr>
              <a:t>Catalyst QuickML → GLM-4.7-Flash   ·   SmartBrowz → pack PDF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374B"/>
                </a:solidFill>
                <a:latin typeface="Calibri"/>
              </a:rPr>
              <a:t>Cron → Night Patrol → lead cards → morning briefing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047855"/>
                </a:solidFill>
                <a:latin typeface="Calibri"/>
              </a:rPr>
              <a:t>No external inference API is ever called from the deployed app.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2400">
                <a:solidFill>
                  <a:srgbClr val="0B1F3A"/>
                </a:solidFill>
              </a:rPr>
              <a:t>What we would build next</a:t>
            </a:r>
            <a:endParaRPr b="1" sz="1800"/>
          </a:p>
        </p:txBody>
      </p:sp>
      <p:sp>
        <p:nvSpPr>
          <p:cNvPr id="133" name="TextBox 132"/>
          <p:cNvSpPr txBox="1"/>
          <p:nvPr/>
        </p:nvSpPr>
        <p:spPr>
          <a:xfrm>
            <a:off x="502920" y="1417320"/>
            <a:ext cx="8183879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2B374B"/>
                </a:solidFill>
                <a:latin typeface="Calibri"/>
              </a:rPr>
              <a:t>• CCTNS integration: live read connection + identity resolution on name / parentage / DOB, replacing our synthetic person key.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B374B"/>
                </a:solidFill>
                <a:latin typeface="Calibri"/>
              </a:rPr>
              <a:t>• Catalyst Auth issuing real officer identities into the scope layer that already enforces them.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B374B"/>
                </a:solidFill>
                <a:latin typeface="Calibri"/>
              </a:rPr>
              <a:t>• Kannada NL→SQL tuning with hand-curated examples from real officer phrasing — our clearest measured gap.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B374B"/>
                </a:solidFill>
                <a:latin typeface="Calibri"/>
              </a:rPr>
              <a:t>• Human-in-the-loop learning: every Confirm/Reject on a series becomes a label that improves precision.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B374B"/>
                </a:solidFill>
                <a:latin typeface="Calibri"/>
              </a:rPr>
              <a:t>• A pilot with one district's live data — that is the ask.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7"/>
          <p:cNvSpPr txBox="1"/>
          <p:nvPr/>
        </p:nvSpPr>
        <p:spPr>
          <a:xfrm>
            <a:off x="146600" y="2249200"/>
            <a:ext cx="88332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Blank slide</a:t>
            </a:r>
            <a:endParaRPr b="1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8" title="Framwdwdwde 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